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Oswald Bold" charset="1" panose="00000800000000000000"/>
      <p:regular r:id="rId25"/>
    </p:embeddedFont>
    <p:embeddedFont>
      <p:font typeface="Quicksand" charset="1" panose="00000000000000000000"/>
      <p:regular r:id="rId26"/>
    </p:embeddedFont>
    <p:embeddedFont>
      <p:font typeface="Canva Sans Bold" charset="1" panose="020B0803030501040103"/>
      <p:regular r:id="rId27"/>
    </p:embeddedFont>
    <p:embeddedFont>
      <p:font typeface="Helvetica World" charset="1" panose="020B0500040000020004"/>
      <p:regular r:id="rId28"/>
    </p:embeddedFont>
    <p:embeddedFont>
      <p:font typeface="Quicksand Bold"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7.jpeg" Type="http://schemas.openxmlformats.org/officeDocument/2006/relationships/image"/><Relationship Id="rId5" Target="../media/image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8.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952" r="0" b="-10952"/>
            </a:stretch>
          </a:blipFill>
        </p:spPr>
      </p:sp>
      <p:grpSp>
        <p:nvGrpSpPr>
          <p:cNvPr name="Group 3" id="3"/>
          <p:cNvGrpSpPr/>
          <p:nvPr/>
        </p:nvGrpSpPr>
        <p:grpSpPr>
          <a:xfrm rot="0">
            <a:off x="0" y="0"/>
            <a:ext cx="18288000" cy="10682629"/>
            <a:chOff x="0" y="0"/>
            <a:chExt cx="24384000" cy="14243505"/>
          </a:xfrm>
        </p:grpSpPr>
        <p:sp>
          <p:nvSpPr>
            <p:cNvPr name="Freeform 4" id="4"/>
            <p:cNvSpPr/>
            <p:nvPr/>
          </p:nvSpPr>
          <p:spPr>
            <a:xfrm flipH="false" flipV="false" rot="0">
              <a:off x="0" y="0"/>
              <a:ext cx="24384000" cy="14141904"/>
            </a:xfrm>
            <a:custGeom>
              <a:avLst/>
              <a:gdLst/>
              <a:ahLst/>
              <a:cxnLst/>
              <a:rect r="r" b="b" t="t" l="l"/>
              <a:pathLst>
                <a:path h="14141904" w="24384000">
                  <a:moveTo>
                    <a:pt x="0" y="0"/>
                  </a:moveTo>
                  <a:lnTo>
                    <a:pt x="24384000" y="0"/>
                  </a:lnTo>
                  <a:lnTo>
                    <a:pt x="24384000" y="14141904"/>
                  </a:lnTo>
                  <a:lnTo>
                    <a:pt x="0" y="14141904"/>
                  </a:lnTo>
                  <a:close/>
                </a:path>
              </a:pathLst>
            </a:custGeom>
            <a:solidFill>
              <a:srgbClr val="000000">
                <a:alpha val="56863"/>
              </a:srgbClr>
            </a:solidFill>
          </p:spPr>
        </p:sp>
        <p:sp>
          <p:nvSpPr>
            <p:cNvPr name="Freeform 5" id="5"/>
            <p:cNvSpPr/>
            <p:nvPr/>
          </p:nvSpPr>
          <p:spPr>
            <a:xfrm flipH="false" flipV="false" rot="0">
              <a:off x="0" y="0"/>
              <a:ext cx="24384000" cy="14243504"/>
            </a:xfrm>
            <a:custGeom>
              <a:avLst/>
              <a:gdLst/>
              <a:ahLst/>
              <a:cxnLst/>
              <a:rect r="r" b="b" t="t" l="l"/>
              <a:pathLst>
                <a:path h="14243504" w="24384000">
                  <a:moveTo>
                    <a:pt x="0" y="14141904"/>
                  </a:moveTo>
                  <a:lnTo>
                    <a:pt x="24384000" y="14141904"/>
                  </a:lnTo>
                  <a:lnTo>
                    <a:pt x="24257000" y="14243504"/>
                  </a:lnTo>
                  <a:cubicBezTo>
                    <a:pt x="24257000" y="14243504"/>
                    <a:pt x="23266400" y="14167304"/>
                    <a:pt x="23164800" y="14167304"/>
                  </a:cubicBezTo>
                  <a:lnTo>
                    <a:pt x="1219200" y="14167304"/>
                  </a:lnTo>
                  <a:cubicBezTo>
                    <a:pt x="1117600" y="14167304"/>
                    <a:pt x="127000" y="14243504"/>
                    <a:pt x="127000" y="14243504"/>
                  </a:cubicBezTo>
                  <a:lnTo>
                    <a:pt x="0" y="14141904"/>
                  </a:lnTo>
                  <a:lnTo>
                    <a:pt x="0" y="0"/>
                  </a:lnTo>
                  <a:lnTo>
                    <a:pt x="24384000" y="0"/>
                  </a:lnTo>
                  <a:lnTo>
                    <a:pt x="24384000" y="14141904"/>
                  </a:lnTo>
                  <a:lnTo>
                    <a:pt x="12700" y="14141904"/>
                  </a:lnTo>
                  <a:lnTo>
                    <a:pt x="12700" y="14129204"/>
                  </a:lnTo>
                  <a:lnTo>
                    <a:pt x="24371300" y="14129204"/>
                  </a:lnTo>
                  <a:lnTo>
                    <a:pt x="24371300" y="12700"/>
                  </a:lnTo>
                  <a:lnTo>
                    <a:pt x="12700" y="12700"/>
                  </a:lnTo>
                  <a:lnTo>
                    <a:pt x="12700" y="14141904"/>
                  </a:lnTo>
                </a:path>
              </a:pathLst>
            </a:custGeom>
            <a:solidFill>
              <a:srgbClr val="394C60">
                <a:alpha val="392"/>
              </a:srgbClr>
            </a:solidFill>
          </p:spPr>
        </p:sp>
        <p:sp>
          <p:nvSpPr>
            <p:cNvPr name="TextBox 6" id="6"/>
            <p:cNvSpPr txBox="true"/>
            <p:nvPr/>
          </p:nvSpPr>
          <p:spPr>
            <a:xfrm>
              <a:off x="0" y="-38100"/>
              <a:ext cx="24384000" cy="13722805"/>
            </a:xfrm>
            <a:prstGeom prst="rect">
              <a:avLst/>
            </a:prstGeom>
          </p:spPr>
          <p:txBody>
            <a:bodyPr anchor="t" rtlCol="false" tIns="203200" lIns="203200" bIns="203200" rIns="203200"/>
            <a:lstStyle/>
            <a:p>
              <a:pPr algn="l">
                <a:lnSpc>
                  <a:spcPts val="2659"/>
                </a:lnSpc>
              </a:pPr>
            </a:p>
          </p:txBody>
        </p:sp>
      </p:grpSp>
      <p:sp>
        <p:nvSpPr>
          <p:cNvPr name="AutoShape 7" id="7"/>
          <p:cNvSpPr/>
          <p:nvPr/>
        </p:nvSpPr>
        <p:spPr>
          <a:xfrm>
            <a:off x="1028700" y="9042203"/>
            <a:ext cx="16230600" cy="0"/>
          </a:xfrm>
          <a:prstGeom prst="line">
            <a:avLst/>
          </a:prstGeom>
          <a:ln cap="flat" w="19050">
            <a:solidFill>
              <a:srgbClr val="FFFFFF"/>
            </a:solidFill>
            <a:prstDash val="solid"/>
            <a:headEnd type="none" len="sm" w="sm"/>
            <a:tailEnd type="none" len="sm" w="sm"/>
          </a:ln>
        </p:spPr>
      </p:sp>
      <p:sp>
        <p:nvSpPr>
          <p:cNvPr name="AutoShape 8" id="8"/>
          <p:cNvSpPr/>
          <p:nvPr/>
        </p:nvSpPr>
        <p:spPr>
          <a:xfrm>
            <a:off x="1028700" y="1248380"/>
            <a:ext cx="16230600" cy="0"/>
          </a:xfrm>
          <a:prstGeom prst="line">
            <a:avLst/>
          </a:prstGeom>
          <a:ln cap="flat" w="19050">
            <a:solidFill>
              <a:srgbClr val="FFFFFF"/>
            </a:solidFill>
            <a:prstDash val="solid"/>
            <a:headEnd type="none" len="sm" w="sm"/>
            <a:tailEnd type="none" len="sm" w="sm"/>
          </a:ln>
        </p:spPr>
      </p:sp>
      <p:sp>
        <p:nvSpPr>
          <p:cNvPr name="TextBox 9" id="9"/>
          <p:cNvSpPr txBox="true"/>
          <p:nvPr/>
        </p:nvSpPr>
        <p:spPr>
          <a:xfrm rot="0">
            <a:off x="718991" y="4213315"/>
            <a:ext cx="16268150" cy="1997303"/>
          </a:xfrm>
          <a:prstGeom prst="rect">
            <a:avLst/>
          </a:prstGeom>
        </p:spPr>
        <p:txBody>
          <a:bodyPr anchor="t" rtlCol="false" tIns="0" lIns="0" bIns="0" rIns="0">
            <a:spAutoFit/>
          </a:bodyPr>
          <a:lstStyle/>
          <a:p>
            <a:pPr algn="l">
              <a:lnSpc>
                <a:spcPts val="15419"/>
              </a:lnSpc>
            </a:pPr>
            <a:r>
              <a:rPr lang="en-US" sz="14017" b="true">
                <a:solidFill>
                  <a:srgbClr val="FFFFFF"/>
                </a:solidFill>
                <a:latin typeface="Oswald Bold"/>
                <a:ea typeface="Oswald Bold"/>
                <a:cs typeface="Oswald Bold"/>
                <a:sym typeface="Oswald Bold"/>
              </a:rPr>
              <a:t>QUẢN LÝ XE VÀ LÁI XE</a:t>
            </a:r>
          </a:p>
        </p:txBody>
      </p:sp>
      <p:sp>
        <p:nvSpPr>
          <p:cNvPr name="Freeform 10" id="10" descr="generated image"/>
          <p:cNvSpPr/>
          <p:nvPr/>
        </p:nvSpPr>
        <p:spPr>
          <a:xfrm flipH="false" flipV="false" rot="0">
            <a:off x="15809266" y="1838993"/>
            <a:ext cx="6609013" cy="6609013"/>
          </a:xfrm>
          <a:custGeom>
            <a:avLst/>
            <a:gdLst/>
            <a:ahLst/>
            <a:cxnLst/>
            <a:rect r="r" b="b" t="t" l="l"/>
            <a:pathLst>
              <a:path h="6609013" w="6609013">
                <a:moveTo>
                  <a:pt x="0" y="0"/>
                </a:moveTo>
                <a:lnTo>
                  <a:pt x="6609013" y="0"/>
                </a:lnTo>
                <a:lnTo>
                  <a:pt x="6609013" y="6609014"/>
                </a:lnTo>
                <a:lnTo>
                  <a:pt x="0" y="6609014"/>
                </a:lnTo>
                <a:lnTo>
                  <a:pt x="0" y="0"/>
                </a:lnTo>
                <a:close/>
              </a:path>
            </a:pathLst>
          </a:custGeom>
          <a:blipFill>
            <a:blip r:embed="rId3"/>
            <a:stretch>
              <a:fillRect l="0" t="0" r="0" b="0"/>
            </a:stretch>
          </a:blipFill>
        </p:spPr>
      </p:sp>
      <p:sp>
        <p:nvSpPr>
          <p:cNvPr name="TextBox 11" id="11"/>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FFFFFF"/>
                </a:solidFill>
                <a:latin typeface="Quicksand"/>
                <a:ea typeface="Quicksand"/>
                <a:cs typeface="Quicksand"/>
                <a:sym typeface="Quicksand"/>
              </a:rPr>
              <a:t>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952" r="0" b="-10952"/>
            </a:stretch>
          </a:blipFill>
        </p:spPr>
      </p:sp>
      <p:grpSp>
        <p:nvGrpSpPr>
          <p:cNvPr name="Group 3" id="3"/>
          <p:cNvGrpSpPr/>
          <p:nvPr/>
        </p:nvGrpSpPr>
        <p:grpSpPr>
          <a:xfrm rot="0">
            <a:off x="0" y="0"/>
            <a:ext cx="18288000" cy="10682629"/>
            <a:chOff x="0" y="0"/>
            <a:chExt cx="24384000" cy="14243505"/>
          </a:xfrm>
        </p:grpSpPr>
        <p:sp>
          <p:nvSpPr>
            <p:cNvPr name="Freeform 4" id="4"/>
            <p:cNvSpPr/>
            <p:nvPr/>
          </p:nvSpPr>
          <p:spPr>
            <a:xfrm flipH="false" flipV="false" rot="0">
              <a:off x="0" y="0"/>
              <a:ext cx="24384000" cy="14141904"/>
            </a:xfrm>
            <a:custGeom>
              <a:avLst/>
              <a:gdLst/>
              <a:ahLst/>
              <a:cxnLst/>
              <a:rect r="r" b="b" t="t" l="l"/>
              <a:pathLst>
                <a:path h="14141904" w="24384000">
                  <a:moveTo>
                    <a:pt x="0" y="0"/>
                  </a:moveTo>
                  <a:lnTo>
                    <a:pt x="24384000" y="0"/>
                  </a:lnTo>
                  <a:lnTo>
                    <a:pt x="24384000" y="14141904"/>
                  </a:lnTo>
                  <a:lnTo>
                    <a:pt x="0" y="14141904"/>
                  </a:lnTo>
                  <a:close/>
                </a:path>
              </a:pathLst>
            </a:custGeom>
            <a:solidFill>
              <a:srgbClr val="000000">
                <a:alpha val="56863"/>
              </a:srgbClr>
            </a:solidFill>
          </p:spPr>
        </p:sp>
        <p:sp>
          <p:nvSpPr>
            <p:cNvPr name="Freeform 5" id="5"/>
            <p:cNvSpPr/>
            <p:nvPr/>
          </p:nvSpPr>
          <p:spPr>
            <a:xfrm flipH="false" flipV="false" rot="0">
              <a:off x="0" y="0"/>
              <a:ext cx="24384000" cy="14243504"/>
            </a:xfrm>
            <a:custGeom>
              <a:avLst/>
              <a:gdLst/>
              <a:ahLst/>
              <a:cxnLst/>
              <a:rect r="r" b="b" t="t" l="l"/>
              <a:pathLst>
                <a:path h="14243504" w="24384000">
                  <a:moveTo>
                    <a:pt x="0" y="14141904"/>
                  </a:moveTo>
                  <a:lnTo>
                    <a:pt x="24384000" y="14141904"/>
                  </a:lnTo>
                  <a:lnTo>
                    <a:pt x="24257000" y="14243504"/>
                  </a:lnTo>
                  <a:cubicBezTo>
                    <a:pt x="24257000" y="14243504"/>
                    <a:pt x="23266400" y="14167304"/>
                    <a:pt x="23164800" y="14167304"/>
                  </a:cubicBezTo>
                  <a:lnTo>
                    <a:pt x="1219200" y="14167304"/>
                  </a:lnTo>
                  <a:cubicBezTo>
                    <a:pt x="1117600" y="14167304"/>
                    <a:pt x="127000" y="14243504"/>
                    <a:pt x="127000" y="14243504"/>
                  </a:cubicBezTo>
                  <a:lnTo>
                    <a:pt x="0" y="14141904"/>
                  </a:lnTo>
                  <a:lnTo>
                    <a:pt x="0" y="0"/>
                  </a:lnTo>
                  <a:lnTo>
                    <a:pt x="24384000" y="0"/>
                  </a:lnTo>
                  <a:lnTo>
                    <a:pt x="24384000" y="14141904"/>
                  </a:lnTo>
                  <a:lnTo>
                    <a:pt x="12700" y="14141904"/>
                  </a:lnTo>
                  <a:lnTo>
                    <a:pt x="12700" y="14129204"/>
                  </a:lnTo>
                  <a:lnTo>
                    <a:pt x="24371300" y="14129204"/>
                  </a:lnTo>
                  <a:lnTo>
                    <a:pt x="24371300" y="12700"/>
                  </a:lnTo>
                  <a:lnTo>
                    <a:pt x="12700" y="12700"/>
                  </a:lnTo>
                  <a:lnTo>
                    <a:pt x="12700" y="14141904"/>
                  </a:lnTo>
                </a:path>
              </a:pathLst>
            </a:custGeom>
            <a:solidFill>
              <a:srgbClr val="394C60">
                <a:alpha val="392"/>
              </a:srgbClr>
            </a:solidFill>
          </p:spPr>
        </p:sp>
        <p:sp>
          <p:nvSpPr>
            <p:cNvPr name="TextBox 6" id="6"/>
            <p:cNvSpPr txBox="true"/>
            <p:nvPr/>
          </p:nvSpPr>
          <p:spPr>
            <a:xfrm>
              <a:off x="0" y="-38100"/>
              <a:ext cx="24384000" cy="13722805"/>
            </a:xfrm>
            <a:prstGeom prst="rect">
              <a:avLst/>
            </a:prstGeom>
          </p:spPr>
          <p:txBody>
            <a:bodyPr anchor="t" rtlCol="false" tIns="203200" lIns="203200" bIns="203200" rIns="203200"/>
            <a:lstStyle/>
            <a:p>
              <a:pPr algn="l">
                <a:lnSpc>
                  <a:spcPts val="2659"/>
                </a:lnSpc>
              </a:pPr>
            </a:p>
          </p:txBody>
        </p:sp>
      </p:grpSp>
      <p:sp>
        <p:nvSpPr>
          <p:cNvPr name="AutoShape 7" id="7"/>
          <p:cNvSpPr/>
          <p:nvPr/>
        </p:nvSpPr>
        <p:spPr>
          <a:xfrm>
            <a:off x="1028700" y="9042203"/>
            <a:ext cx="16230600" cy="0"/>
          </a:xfrm>
          <a:prstGeom prst="line">
            <a:avLst/>
          </a:prstGeom>
          <a:ln cap="flat" w="19050">
            <a:solidFill>
              <a:srgbClr val="FFFFFF"/>
            </a:solidFill>
            <a:prstDash val="solid"/>
            <a:headEnd type="none" len="sm" w="sm"/>
            <a:tailEnd type="none" len="sm" w="sm"/>
          </a:ln>
        </p:spPr>
      </p:sp>
      <p:sp>
        <p:nvSpPr>
          <p:cNvPr name="AutoShape 8" id="8"/>
          <p:cNvSpPr/>
          <p:nvPr/>
        </p:nvSpPr>
        <p:spPr>
          <a:xfrm>
            <a:off x="1028700" y="1248380"/>
            <a:ext cx="16230600" cy="0"/>
          </a:xfrm>
          <a:prstGeom prst="line">
            <a:avLst/>
          </a:prstGeom>
          <a:ln cap="flat" w="19050">
            <a:solidFill>
              <a:srgbClr val="FFFFFF"/>
            </a:solidFill>
            <a:prstDash val="solid"/>
            <a:headEnd type="none" len="sm" w="sm"/>
            <a:tailEnd type="none" len="sm" w="sm"/>
          </a:ln>
        </p:spPr>
      </p:sp>
      <p:sp>
        <p:nvSpPr>
          <p:cNvPr name="TextBox 9" id="9"/>
          <p:cNvSpPr txBox="true"/>
          <p:nvPr/>
        </p:nvSpPr>
        <p:spPr>
          <a:xfrm rot="0">
            <a:off x="3063915" y="4248954"/>
            <a:ext cx="11579303" cy="577591"/>
          </a:xfrm>
          <a:prstGeom prst="rect">
            <a:avLst/>
          </a:prstGeom>
        </p:spPr>
        <p:txBody>
          <a:bodyPr anchor="t" rtlCol="false" tIns="0" lIns="0" bIns="0" rIns="0">
            <a:spAutoFit/>
          </a:bodyPr>
          <a:lstStyle/>
          <a:p>
            <a:pPr algn="l">
              <a:lnSpc>
                <a:spcPts val="4536"/>
              </a:lnSpc>
            </a:pPr>
            <a:r>
              <a:rPr lang="en-US" sz="4123" b="true">
                <a:solidFill>
                  <a:srgbClr val="FFFFFF"/>
                </a:solidFill>
                <a:latin typeface="Canva Sans Bold"/>
                <a:ea typeface="Canva Sans Bold"/>
                <a:cs typeface="Canva Sans Bold"/>
                <a:sym typeface="Canva Sans Bold"/>
              </a:rPr>
              <a:t>Nguyễn Tuấn Khanh - DTH235675 - DH24TH2</a:t>
            </a:r>
          </a:p>
        </p:txBody>
      </p:sp>
      <p:sp>
        <p:nvSpPr>
          <p:cNvPr name="TextBox 10" id="10"/>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FFFFFF"/>
                </a:solidFill>
                <a:latin typeface="Quicksand"/>
                <a:ea typeface="Quicksand"/>
                <a:cs typeface="Quicksand"/>
                <a:sym typeface="Quicksand"/>
              </a:rPr>
              <a:t>2025</a:t>
            </a:r>
          </a:p>
        </p:txBody>
      </p:sp>
      <p:sp>
        <p:nvSpPr>
          <p:cNvPr name="TextBox 11" id="11"/>
          <p:cNvSpPr txBox="true"/>
          <p:nvPr/>
        </p:nvSpPr>
        <p:spPr>
          <a:xfrm rot="0">
            <a:off x="3010453" y="5689112"/>
            <a:ext cx="13547021" cy="576199"/>
          </a:xfrm>
          <a:prstGeom prst="rect">
            <a:avLst/>
          </a:prstGeom>
        </p:spPr>
        <p:txBody>
          <a:bodyPr anchor="t" rtlCol="false" tIns="0" lIns="0" bIns="0" rIns="0">
            <a:spAutoFit/>
          </a:bodyPr>
          <a:lstStyle/>
          <a:p>
            <a:pPr algn="l">
              <a:lnSpc>
                <a:spcPts val="4531"/>
              </a:lnSpc>
            </a:pPr>
            <a:r>
              <a:rPr lang="en-US" sz="4119" b="true">
                <a:solidFill>
                  <a:srgbClr val="FFFFFF"/>
                </a:solidFill>
                <a:latin typeface="Canva Sans Bold"/>
                <a:ea typeface="Canva Sans Bold"/>
                <a:cs typeface="Canva Sans Bold"/>
                <a:sym typeface="Canva Sans Bold"/>
              </a:rPr>
              <a:t>Bùi Thành Nhơn - DTH235717 - DH24TH2</a:t>
            </a:r>
          </a:p>
        </p:txBody>
      </p:sp>
      <p:sp>
        <p:nvSpPr>
          <p:cNvPr name="Freeform 12" id="12" descr="generated image"/>
          <p:cNvSpPr/>
          <p:nvPr/>
        </p:nvSpPr>
        <p:spPr>
          <a:xfrm flipH="false" flipV="false" rot="0">
            <a:off x="-3545098" y="1838993"/>
            <a:ext cx="6609013" cy="6609013"/>
          </a:xfrm>
          <a:custGeom>
            <a:avLst/>
            <a:gdLst/>
            <a:ahLst/>
            <a:cxnLst/>
            <a:rect r="r" b="b" t="t" l="l"/>
            <a:pathLst>
              <a:path h="6609013" w="6609013">
                <a:moveTo>
                  <a:pt x="0" y="0"/>
                </a:moveTo>
                <a:lnTo>
                  <a:pt x="6609013" y="0"/>
                </a:lnTo>
                <a:lnTo>
                  <a:pt x="6609013" y="6609014"/>
                </a:lnTo>
                <a:lnTo>
                  <a:pt x="0" y="6609014"/>
                </a:lnTo>
                <a:lnTo>
                  <a:pt x="0" y="0"/>
                </a:lnTo>
                <a:close/>
              </a:path>
            </a:pathLst>
          </a:custGeom>
          <a:blipFill>
            <a:blip r:embed="rId3"/>
            <a:stretch>
              <a:fillRect l="0" t="0" r="0" b="0"/>
            </a:stretch>
          </a:blipFill>
        </p:spPr>
      </p:sp>
      <p:sp>
        <p:nvSpPr>
          <p:cNvPr name="TextBox 13" id="13"/>
          <p:cNvSpPr txBox="true"/>
          <p:nvPr/>
        </p:nvSpPr>
        <p:spPr>
          <a:xfrm rot="0">
            <a:off x="7117315" y="1401657"/>
            <a:ext cx="4053370" cy="1246841"/>
          </a:xfrm>
          <a:prstGeom prst="rect">
            <a:avLst/>
          </a:prstGeom>
        </p:spPr>
        <p:txBody>
          <a:bodyPr anchor="t" rtlCol="false" tIns="0" lIns="0" bIns="0" rIns="0">
            <a:spAutoFit/>
          </a:bodyPr>
          <a:lstStyle/>
          <a:p>
            <a:pPr algn="ctr">
              <a:lnSpc>
                <a:spcPts val="10237"/>
              </a:lnSpc>
            </a:pPr>
            <a:r>
              <a:rPr lang="en-US" sz="7312" b="true">
                <a:solidFill>
                  <a:srgbClr val="FFFFFF"/>
                </a:solidFill>
                <a:latin typeface="Oswald Bold"/>
                <a:ea typeface="Oswald Bold"/>
                <a:cs typeface="Oswald Bold"/>
                <a:sym typeface="Oswald Bold"/>
              </a:rPr>
              <a:t>Thành viên</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768669" y="1932217"/>
            <a:ext cx="4269423" cy="6603830"/>
            <a:chOff x="0" y="0"/>
            <a:chExt cx="5692564" cy="8805107"/>
          </a:xfrm>
        </p:grpSpPr>
        <p:pic>
          <p:nvPicPr>
            <p:cNvPr name="Picture 5" id="5"/>
            <p:cNvPicPr>
              <a:picLocks noChangeAspect="true"/>
            </p:cNvPicPr>
            <p:nvPr/>
          </p:nvPicPr>
          <p:blipFill>
            <a:blip r:embed="rId2"/>
            <a:srcRect l="32191" t="0" r="32191" b="0"/>
            <a:stretch>
              <a:fillRect/>
            </a:stretch>
          </p:blipFill>
          <p:spPr>
            <a:xfrm flipH="false" flipV="false">
              <a:off x="0" y="0"/>
              <a:ext cx="5692564" cy="8805107"/>
            </a:xfrm>
            <a:prstGeom prst="rect">
              <a:avLst/>
            </a:prstGeom>
          </p:spPr>
        </p:pic>
      </p:grpSp>
      <p:sp>
        <p:nvSpPr>
          <p:cNvPr name="TextBox 6" id="6"/>
          <p:cNvSpPr txBox="true"/>
          <p:nvPr/>
        </p:nvSpPr>
        <p:spPr>
          <a:xfrm rot="0">
            <a:off x="5490986" y="3487670"/>
            <a:ext cx="11532896" cy="50483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Trước đây, các nghiệp vụ như phân công, theo dõi lịch bảo dưỡng, hay ghi nhận vi phạm thường được thực hiện thủ công bằng sổ sách hoặc file Excel. Điều này dẫn đến tình trạng dễ sai sót, khó khăn trong việc tra cứu thông tin nhanh chóng, và không có cái nhìn tổng quan về tình trạng hoạt động của xe và hiệu suất của tài xế.</a:t>
            </a:r>
          </a:p>
        </p:txBody>
      </p:sp>
      <p:grpSp>
        <p:nvGrpSpPr>
          <p:cNvPr name="Group 7" id="7"/>
          <p:cNvGrpSpPr/>
          <p:nvPr/>
        </p:nvGrpSpPr>
        <p:grpSpPr>
          <a:xfrm rot="0">
            <a:off x="611324" y="614824"/>
            <a:ext cx="3618647" cy="497162"/>
            <a:chOff x="0" y="0"/>
            <a:chExt cx="953059" cy="130940"/>
          </a:xfrm>
        </p:grpSpPr>
        <p:sp>
          <p:nvSpPr>
            <p:cNvPr name="Freeform 8" id="8"/>
            <p:cNvSpPr/>
            <p:nvPr/>
          </p:nvSpPr>
          <p:spPr>
            <a:xfrm flipH="false" flipV="false" rot="0">
              <a:off x="0" y="0"/>
              <a:ext cx="953059" cy="130940"/>
            </a:xfrm>
            <a:custGeom>
              <a:avLst/>
              <a:gdLst/>
              <a:ahLst/>
              <a:cxnLst/>
              <a:rect r="r" b="b" t="t" l="l"/>
              <a:pathLst>
                <a:path h="130940" w="953059">
                  <a:moveTo>
                    <a:pt x="65470" y="0"/>
                  </a:moveTo>
                  <a:lnTo>
                    <a:pt x="887589" y="0"/>
                  </a:lnTo>
                  <a:cubicBezTo>
                    <a:pt x="904953" y="0"/>
                    <a:pt x="921606" y="6898"/>
                    <a:pt x="933884" y="19176"/>
                  </a:cubicBezTo>
                  <a:cubicBezTo>
                    <a:pt x="946162" y="31454"/>
                    <a:pt x="953059" y="48106"/>
                    <a:pt x="953059" y="65470"/>
                  </a:cubicBezTo>
                  <a:lnTo>
                    <a:pt x="953059" y="65470"/>
                  </a:lnTo>
                  <a:cubicBezTo>
                    <a:pt x="953059" y="82834"/>
                    <a:pt x="946162" y="99486"/>
                    <a:pt x="933884" y="111764"/>
                  </a:cubicBezTo>
                  <a:cubicBezTo>
                    <a:pt x="921606" y="124042"/>
                    <a:pt x="904953" y="130940"/>
                    <a:pt x="887589" y="130940"/>
                  </a:cubicBezTo>
                  <a:lnTo>
                    <a:pt x="65470" y="130940"/>
                  </a:lnTo>
                  <a:cubicBezTo>
                    <a:pt x="48106" y="130940"/>
                    <a:pt x="31454" y="124042"/>
                    <a:pt x="19176" y="111764"/>
                  </a:cubicBezTo>
                  <a:cubicBezTo>
                    <a:pt x="6898" y="99486"/>
                    <a:pt x="0" y="82834"/>
                    <a:pt x="0" y="65470"/>
                  </a:cubicBezTo>
                  <a:lnTo>
                    <a:pt x="0" y="65470"/>
                  </a:lnTo>
                  <a:cubicBezTo>
                    <a:pt x="0" y="48106"/>
                    <a:pt x="6898" y="31454"/>
                    <a:pt x="19176" y="19176"/>
                  </a:cubicBezTo>
                  <a:cubicBezTo>
                    <a:pt x="31454" y="6898"/>
                    <a:pt x="48106" y="0"/>
                    <a:pt x="65470" y="0"/>
                  </a:cubicBezTo>
                  <a:close/>
                </a:path>
              </a:pathLst>
            </a:custGeom>
            <a:solidFill>
              <a:srgbClr val="D5CCC8"/>
            </a:solidFill>
          </p:spPr>
        </p:sp>
        <p:sp>
          <p:nvSpPr>
            <p:cNvPr name="TextBox 9" id="9"/>
            <p:cNvSpPr txBox="true"/>
            <p:nvPr/>
          </p:nvSpPr>
          <p:spPr>
            <a:xfrm>
              <a:off x="0" y="-38100"/>
              <a:ext cx="953059" cy="169040"/>
            </a:xfrm>
            <a:prstGeom prst="rect">
              <a:avLst/>
            </a:prstGeom>
          </p:spPr>
          <p:txBody>
            <a:bodyPr anchor="ctr" rtlCol="false" tIns="50800" lIns="50800" bIns="50800" rIns="50800"/>
            <a:lstStyle/>
            <a:p>
              <a:pPr algn="ctr">
                <a:lnSpc>
                  <a:spcPts val="3080"/>
                </a:lnSpc>
              </a:pPr>
            </a:p>
          </p:txBody>
        </p:sp>
      </p:grpSp>
      <p:grpSp>
        <p:nvGrpSpPr>
          <p:cNvPr name="Group 10" id="10"/>
          <p:cNvGrpSpPr/>
          <p:nvPr/>
        </p:nvGrpSpPr>
        <p:grpSpPr>
          <a:xfrm rot="0">
            <a:off x="1028700" y="614824"/>
            <a:ext cx="16263480" cy="394844"/>
            <a:chOff x="0" y="0"/>
            <a:chExt cx="21684640" cy="526458"/>
          </a:xfrm>
        </p:grpSpPr>
        <p:grpSp>
          <p:nvGrpSpPr>
            <p:cNvPr name="Group 11" id="11"/>
            <p:cNvGrpSpPr/>
            <p:nvPr/>
          </p:nvGrpSpPr>
          <p:grpSpPr>
            <a:xfrm rot="0">
              <a:off x="18520735" y="0"/>
              <a:ext cx="3163905" cy="526409"/>
              <a:chOff x="0" y="0"/>
              <a:chExt cx="624969" cy="103982"/>
            </a:xfrm>
          </p:grpSpPr>
          <p:sp>
            <p:nvSpPr>
              <p:cNvPr name="Freeform 12" id="12"/>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3" id="13"/>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6" id="16"/>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7" id="17"/>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8" id="18"/>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9" id="19"/>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sp>
        <p:nvSpPr>
          <p:cNvPr name="TextBox 20" id="20"/>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1" id="21"/>
          <p:cNvSpPr txBox="true"/>
          <p:nvPr/>
        </p:nvSpPr>
        <p:spPr>
          <a:xfrm rot="0">
            <a:off x="5490986" y="2192751"/>
            <a:ext cx="7150796" cy="1076325"/>
          </a:xfrm>
          <a:prstGeom prst="rect">
            <a:avLst/>
          </a:prstGeom>
        </p:spPr>
        <p:txBody>
          <a:bodyPr anchor="t" rtlCol="false" tIns="0" lIns="0" bIns="0" rIns="0">
            <a:spAutoFit/>
          </a:bodyPr>
          <a:lstStyle/>
          <a:p>
            <a:pPr algn="l">
              <a:lnSpc>
                <a:spcPts val="8250"/>
              </a:lnSpc>
            </a:pPr>
            <a:r>
              <a:rPr lang="en-US" sz="7500" b="true">
                <a:solidFill>
                  <a:srgbClr val="0A0A0A"/>
                </a:solidFill>
                <a:latin typeface="Oswald Bold"/>
                <a:ea typeface="Oswald Bold"/>
                <a:cs typeface="Oswald Bold"/>
                <a:sym typeface="Oswald Bold"/>
              </a:rPr>
              <a:t>VẤN ĐỀ HIỆN TẠI</a:t>
            </a: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sp>
        <p:nvSpPr>
          <p:cNvPr name="TextBox 4" id="4"/>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grpSp>
        <p:nvGrpSpPr>
          <p:cNvPr name="Group 5" id="5"/>
          <p:cNvGrpSpPr/>
          <p:nvPr/>
        </p:nvGrpSpPr>
        <p:grpSpPr>
          <a:xfrm rot="0">
            <a:off x="821075" y="3055867"/>
            <a:ext cx="4905329" cy="5698554"/>
            <a:chOff x="0" y="0"/>
            <a:chExt cx="6540438" cy="7598071"/>
          </a:xfrm>
        </p:grpSpPr>
        <p:pic>
          <p:nvPicPr>
            <p:cNvPr name="Picture 6" id="6"/>
            <p:cNvPicPr>
              <a:picLocks noChangeAspect="true"/>
            </p:cNvPicPr>
            <p:nvPr/>
          </p:nvPicPr>
          <p:blipFill>
            <a:blip r:embed="rId2"/>
            <a:srcRect l="25819" t="0" r="25819" b="0"/>
            <a:stretch>
              <a:fillRect/>
            </a:stretch>
          </p:blipFill>
          <p:spPr>
            <a:xfrm flipH="false" flipV="false">
              <a:off x="0" y="0"/>
              <a:ext cx="6540438" cy="7598071"/>
            </a:xfrm>
            <a:prstGeom prst="rect">
              <a:avLst/>
            </a:prstGeom>
          </p:spPr>
        </p:pic>
      </p:grpSp>
      <p:sp>
        <p:nvSpPr>
          <p:cNvPr name="TextBox 7" id="7"/>
          <p:cNvSpPr txBox="true"/>
          <p:nvPr/>
        </p:nvSpPr>
        <p:spPr>
          <a:xfrm rot="0">
            <a:off x="1289132" y="1760467"/>
            <a:ext cx="3960508" cy="1076325"/>
          </a:xfrm>
          <a:prstGeom prst="rect">
            <a:avLst/>
          </a:prstGeom>
        </p:spPr>
        <p:txBody>
          <a:bodyPr anchor="t" rtlCol="false" tIns="0" lIns="0" bIns="0" rIns="0">
            <a:spAutoFit/>
          </a:bodyPr>
          <a:lstStyle/>
          <a:p>
            <a:pPr algn="l">
              <a:lnSpc>
                <a:spcPts val="8250"/>
              </a:lnSpc>
            </a:pPr>
            <a:r>
              <a:rPr lang="en-US" sz="7500" b="true">
                <a:solidFill>
                  <a:srgbClr val="0A0A0A"/>
                </a:solidFill>
                <a:latin typeface="Oswald Bold"/>
                <a:ea typeface="Oswald Bold"/>
                <a:cs typeface="Oswald Bold"/>
                <a:sym typeface="Oswald Bold"/>
              </a:rPr>
              <a:t>MỤC TIÊU</a:t>
            </a:r>
          </a:p>
        </p:txBody>
      </p:sp>
      <p:sp>
        <p:nvSpPr>
          <p:cNvPr name="TextBox 8" id="8"/>
          <p:cNvSpPr txBox="true"/>
          <p:nvPr/>
        </p:nvSpPr>
        <p:spPr>
          <a:xfrm rot="0">
            <a:off x="5726404" y="1481645"/>
            <a:ext cx="11532896" cy="7943977"/>
          </a:xfrm>
          <a:prstGeom prst="rect">
            <a:avLst/>
          </a:prstGeom>
        </p:spPr>
        <p:txBody>
          <a:bodyPr anchor="t" rtlCol="false" tIns="0" lIns="0" bIns="0" rIns="0">
            <a:spAutoFit/>
          </a:bodyPr>
          <a:lstStyle/>
          <a:p>
            <a:pPr algn="just" marL="889507" indent="-444754" lvl="1">
              <a:lnSpc>
                <a:spcPts val="5767"/>
              </a:lnSpc>
              <a:buFont typeface="Arial"/>
              <a:buChar char="•"/>
            </a:pPr>
            <a:r>
              <a:rPr lang="en-US" sz="4119">
                <a:solidFill>
                  <a:srgbClr val="0A0A0A"/>
                </a:solidFill>
                <a:latin typeface="Helvetica World"/>
                <a:ea typeface="Helvetica World"/>
                <a:cs typeface="Helvetica World"/>
                <a:sym typeface="Helvetica World"/>
              </a:rPr>
              <a:t>Tin học hóa toàn bộ: Xây dựng một hệ thống quản lý dữ liệu tập trung và có cấu trúc cho tất cả các nghiệp vụ.</a:t>
            </a:r>
          </a:p>
          <a:p>
            <a:pPr algn="just" marL="889507" indent="-444754" lvl="1">
              <a:lnSpc>
                <a:spcPts val="5767"/>
              </a:lnSpc>
              <a:buFont typeface="Arial"/>
              <a:buChar char="•"/>
            </a:pPr>
            <a:r>
              <a:rPr lang="en-US" sz="4119">
                <a:solidFill>
                  <a:srgbClr val="0A0A0A"/>
                </a:solidFill>
                <a:latin typeface="Helvetica World"/>
                <a:ea typeface="Helvetica World"/>
                <a:cs typeface="Helvetica World"/>
                <a:sym typeface="Helvetica World"/>
              </a:rPr>
              <a:t>Tự động hóa nghiệp vụ: Hỗ trợ người quản lý thực hiện các thao tác phân công, bảo dưỡng, và ghi nhận vi phạm một cách nhanh chóng, có kiểm soát.</a:t>
            </a:r>
          </a:p>
          <a:p>
            <a:pPr algn="just" marL="889507" indent="-444754" lvl="1">
              <a:lnSpc>
                <a:spcPts val="5767"/>
              </a:lnSpc>
              <a:buFont typeface="Arial"/>
              <a:buChar char="•"/>
            </a:pPr>
            <a:r>
              <a:rPr lang="en-US" sz="4119">
                <a:solidFill>
                  <a:srgbClr val="0A0A0A"/>
                </a:solidFill>
                <a:latin typeface="Helvetica World"/>
                <a:ea typeface="Helvetica World"/>
                <a:cs typeface="Helvetica World"/>
                <a:sym typeface="Helvetica World"/>
              </a:rPr>
              <a:t>Tăng tính minh bạch và hiệu quả: Giúp doanh nghiệp tối ưu hóa việc sử dụng xe và nâng cao kỷ luật của tài xế."</a:t>
            </a:r>
          </a:p>
          <a:p>
            <a:pPr algn="just">
              <a:lnSpc>
                <a:spcPts val="5767"/>
              </a:lnSpc>
            </a:pPr>
          </a:p>
        </p:txBody>
      </p:sp>
      <p:grpSp>
        <p:nvGrpSpPr>
          <p:cNvPr name="Group 9" id="9"/>
          <p:cNvGrpSpPr/>
          <p:nvPr/>
        </p:nvGrpSpPr>
        <p:grpSpPr>
          <a:xfrm rot="0">
            <a:off x="564162" y="625008"/>
            <a:ext cx="3618647" cy="497162"/>
            <a:chOff x="0" y="0"/>
            <a:chExt cx="953059" cy="130940"/>
          </a:xfrm>
        </p:grpSpPr>
        <p:sp>
          <p:nvSpPr>
            <p:cNvPr name="Freeform 10" id="10"/>
            <p:cNvSpPr/>
            <p:nvPr/>
          </p:nvSpPr>
          <p:spPr>
            <a:xfrm flipH="false" flipV="false" rot="0">
              <a:off x="0" y="0"/>
              <a:ext cx="953059" cy="130940"/>
            </a:xfrm>
            <a:custGeom>
              <a:avLst/>
              <a:gdLst/>
              <a:ahLst/>
              <a:cxnLst/>
              <a:rect r="r" b="b" t="t" l="l"/>
              <a:pathLst>
                <a:path h="130940" w="953059">
                  <a:moveTo>
                    <a:pt x="65470" y="0"/>
                  </a:moveTo>
                  <a:lnTo>
                    <a:pt x="887589" y="0"/>
                  </a:lnTo>
                  <a:cubicBezTo>
                    <a:pt x="904953" y="0"/>
                    <a:pt x="921606" y="6898"/>
                    <a:pt x="933884" y="19176"/>
                  </a:cubicBezTo>
                  <a:cubicBezTo>
                    <a:pt x="946162" y="31454"/>
                    <a:pt x="953059" y="48106"/>
                    <a:pt x="953059" y="65470"/>
                  </a:cubicBezTo>
                  <a:lnTo>
                    <a:pt x="953059" y="65470"/>
                  </a:lnTo>
                  <a:cubicBezTo>
                    <a:pt x="953059" y="82834"/>
                    <a:pt x="946162" y="99486"/>
                    <a:pt x="933884" y="111764"/>
                  </a:cubicBezTo>
                  <a:cubicBezTo>
                    <a:pt x="921606" y="124042"/>
                    <a:pt x="904953" y="130940"/>
                    <a:pt x="887589" y="130940"/>
                  </a:cubicBezTo>
                  <a:lnTo>
                    <a:pt x="65470" y="130940"/>
                  </a:lnTo>
                  <a:cubicBezTo>
                    <a:pt x="48106" y="130940"/>
                    <a:pt x="31454" y="124042"/>
                    <a:pt x="19176" y="111764"/>
                  </a:cubicBezTo>
                  <a:cubicBezTo>
                    <a:pt x="6898" y="99486"/>
                    <a:pt x="0" y="82834"/>
                    <a:pt x="0" y="65470"/>
                  </a:cubicBezTo>
                  <a:lnTo>
                    <a:pt x="0" y="65470"/>
                  </a:lnTo>
                  <a:cubicBezTo>
                    <a:pt x="0" y="48106"/>
                    <a:pt x="6898" y="31454"/>
                    <a:pt x="19176" y="19176"/>
                  </a:cubicBezTo>
                  <a:cubicBezTo>
                    <a:pt x="31454" y="6898"/>
                    <a:pt x="48106" y="0"/>
                    <a:pt x="65470" y="0"/>
                  </a:cubicBezTo>
                  <a:close/>
                </a:path>
              </a:pathLst>
            </a:custGeom>
            <a:solidFill>
              <a:srgbClr val="D5CCC8"/>
            </a:solidFill>
          </p:spPr>
        </p:sp>
        <p:sp>
          <p:nvSpPr>
            <p:cNvPr name="TextBox 11" id="11"/>
            <p:cNvSpPr txBox="true"/>
            <p:nvPr/>
          </p:nvSpPr>
          <p:spPr>
            <a:xfrm>
              <a:off x="0" y="-38100"/>
              <a:ext cx="953059" cy="169040"/>
            </a:xfrm>
            <a:prstGeom prst="rect">
              <a:avLst/>
            </a:prstGeom>
          </p:spPr>
          <p:txBody>
            <a:bodyPr anchor="ctr" rtlCol="false" tIns="50800" lIns="50800" bIns="50800" rIns="50800"/>
            <a:lstStyle/>
            <a:p>
              <a:pPr algn="ctr">
                <a:lnSpc>
                  <a:spcPts val="3080"/>
                </a:lnSpc>
              </a:pPr>
            </a:p>
          </p:txBody>
        </p:sp>
      </p:grpSp>
      <p:grpSp>
        <p:nvGrpSpPr>
          <p:cNvPr name="Group 12" id="12"/>
          <p:cNvGrpSpPr/>
          <p:nvPr/>
        </p:nvGrpSpPr>
        <p:grpSpPr>
          <a:xfrm rot="0">
            <a:off x="995820" y="625008"/>
            <a:ext cx="16263480" cy="394844"/>
            <a:chOff x="0" y="0"/>
            <a:chExt cx="21684640" cy="526458"/>
          </a:xfrm>
        </p:grpSpPr>
        <p:grpSp>
          <p:nvGrpSpPr>
            <p:cNvPr name="Group 13" id="13"/>
            <p:cNvGrpSpPr/>
            <p:nvPr/>
          </p:nvGrpSpPr>
          <p:grpSpPr>
            <a:xfrm rot="0">
              <a:off x="18520735" y="0"/>
              <a:ext cx="3163905" cy="526409"/>
              <a:chOff x="0" y="0"/>
              <a:chExt cx="624969" cy="103982"/>
            </a:xfrm>
          </p:grpSpPr>
          <p:sp>
            <p:nvSpPr>
              <p:cNvPr name="Freeform 14" id="14"/>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5" id="15"/>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8" id="18"/>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9" id="19"/>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20" id="20"/>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21" id="21"/>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spTree>
  </p:cSld>
  <p:clrMapOvr>
    <a:masterClrMapping/>
  </p:clrMapOvr>
  <p:transition spd="fast">
    <p:circl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1795" y="633856"/>
            <a:ext cx="4313131" cy="453757"/>
            <a:chOff x="0" y="0"/>
            <a:chExt cx="1135969" cy="119508"/>
          </a:xfrm>
        </p:grpSpPr>
        <p:sp>
          <p:nvSpPr>
            <p:cNvPr name="Freeform 3" id="3"/>
            <p:cNvSpPr/>
            <p:nvPr/>
          </p:nvSpPr>
          <p:spPr>
            <a:xfrm flipH="false" flipV="false" rot="0">
              <a:off x="0" y="0"/>
              <a:ext cx="1135969" cy="119508"/>
            </a:xfrm>
            <a:custGeom>
              <a:avLst/>
              <a:gdLst/>
              <a:ahLst/>
              <a:cxnLst/>
              <a:rect r="r" b="b" t="t" l="l"/>
              <a:pathLst>
                <a:path h="119508" w="1135969">
                  <a:moveTo>
                    <a:pt x="59754" y="0"/>
                  </a:moveTo>
                  <a:lnTo>
                    <a:pt x="1076215" y="0"/>
                  </a:lnTo>
                  <a:cubicBezTo>
                    <a:pt x="1092063" y="0"/>
                    <a:pt x="1107261" y="6295"/>
                    <a:pt x="1118467" y="17502"/>
                  </a:cubicBezTo>
                  <a:cubicBezTo>
                    <a:pt x="1129673" y="28708"/>
                    <a:pt x="1135969" y="43906"/>
                    <a:pt x="1135969" y="59754"/>
                  </a:cubicBezTo>
                  <a:lnTo>
                    <a:pt x="1135969" y="59754"/>
                  </a:lnTo>
                  <a:cubicBezTo>
                    <a:pt x="1135969" y="75602"/>
                    <a:pt x="1129673" y="90800"/>
                    <a:pt x="1118467" y="102006"/>
                  </a:cubicBezTo>
                  <a:cubicBezTo>
                    <a:pt x="1107261" y="113213"/>
                    <a:pt x="1092063" y="119508"/>
                    <a:pt x="1076215" y="119508"/>
                  </a:cubicBezTo>
                  <a:lnTo>
                    <a:pt x="59754" y="119508"/>
                  </a:lnTo>
                  <a:cubicBezTo>
                    <a:pt x="43906" y="119508"/>
                    <a:pt x="28708" y="113213"/>
                    <a:pt x="17502" y="102006"/>
                  </a:cubicBezTo>
                  <a:cubicBezTo>
                    <a:pt x="6295" y="90800"/>
                    <a:pt x="0" y="75602"/>
                    <a:pt x="0" y="59754"/>
                  </a:cubicBezTo>
                  <a:lnTo>
                    <a:pt x="0" y="59754"/>
                  </a:lnTo>
                  <a:cubicBezTo>
                    <a:pt x="0" y="43906"/>
                    <a:pt x="6295" y="28708"/>
                    <a:pt x="17502" y="17502"/>
                  </a:cubicBezTo>
                  <a:cubicBezTo>
                    <a:pt x="28708" y="6295"/>
                    <a:pt x="43906" y="0"/>
                    <a:pt x="59754" y="0"/>
                  </a:cubicBezTo>
                  <a:close/>
                </a:path>
              </a:pathLst>
            </a:custGeom>
            <a:solidFill>
              <a:srgbClr val="D5CCC8"/>
            </a:solidFill>
          </p:spPr>
        </p:sp>
        <p:sp>
          <p:nvSpPr>
            <p:cNvPr name="TextBox 4" id="4"/>
            <p:cNvSpPr txBox="true"/>
            <p:nvPr/>
          </p:nvSpPr>
          <p:spPr>
            <a:xfrm>
              <a:off x="0" y="-38100"/>
              <a:ext cx="1135969" cy="157608"/>
            </a:xfrm>
            <a:prstGeom prst="rect">
              <a:avLst/>
            </a:prstGeom>
          </p:spPr>
          <p:txBody>
            <a:bodyPr anchor="ctr" rtlCol="false" tIns="50800" lIns="50800" bIns="50800" rIns="50800"/>
            <a:lstStyle/>
            <a:p>
              <a:pPr algn="ctr">
                <a:lnSpc>
                  <a:spcPts val="3080"/>
                </a:lnSpc>
              </a:pPr>
            </a:p>
          </p:txBody>
        </p:sp>
      </p:grpSp>
      <p:grpSp>
        <p:nvGrpSpPr>
          <p:cNvPr name="Group 5" id="5"/>
          <p:cNvGrpSpPr/>
          <p:nvPr/>
        </p:nvGrpSpPr>
        <p:grpSpPr>
          <a:xfrm rot="0">
            <a:off x="995820" y="633856"/>
            <a:ext cx="16263480" cy="394844"/>
            <a:chOff x="0" y="0"/>
            <a:chExt cx="21684640" cy="526458"/>
          </a:xfrm>
        </p:grpSpPr>
        <p:grpSp>
          <p:nvGrpSpPr>
            <p:cNvPr name="Group 6" id="6"/>
            <p:cNvGrpSpPr/>
            <p:nvPr/>
          </p:nvGrpSpPr>
          <p:grpSpPr>
            <a:xfrm rot="0">
              <a:off x="18520735" y="0"/>
              <a:ext cx="3163905" cy="526409"/>
              <a:chOff x="0" y="0"/>
              <a:chExt cx="624969" cy="103982"/>
            </a:xfrm>
          </p:grpSpPr>
          <p:sp>
            <p:nvSpPr>
              <p:cNvPr name="Freeform 7" id="7"/>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8" id="8"/>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1" id="11"/>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2" id="12"/>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3" id="13"/>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4" id="14"/>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sp>
        <p:nvSpPr>
          <p:cNvPr name="AutoShape 15" id="15"/>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16" id="16"/>
          <p:cNvSpPr/>
          <p:nvPr/>
        </p:nvSpPr>
        <p:spPr>
          <a:xfrm>
            <a:off x="1028700" y="9042203"/>
            <a:ext cx="16230600" cy="0"/>
          </a:xfrm>
          <a:prstGeom prst="line">
            <a:avLst/>
          </a:prstGeom>
          <a:ln cap="flat" w="19050">
            <a:solidFill>
              <a:srgbClr val="0A0A0A"/>
            </a:solidFill>
            <a:prstDash val="solid"/>
            <a:headEnd type="none" len="sm" w="sm"/>
            <a:tailEnd type="none" len="sm" w="sm"/>
          </a:ln>
        </p:spPr>
      </p:sp>
      <p:sp>
        <p:nvSpPr>
          <p:cNvPr name="TextBox 17" id="17"/>
          <p:cNvSpPr txBox="true"/>
          <p:nvPr/>
        </p:nvSpPr>
        <p:spPr>
          <a:xfrm rot="0">
            <a:off x="1028700" y="9220200"/>
            <a:ext cx="1403652" cy="372707"/>
          </a:xfrm>
          <a:prstGeom prst="rect">
            <a:avLst/>
          </a:prstGeom>
        </p:spPr>
        <p:txBody>
          <a:bodyPr anchor="t" rtlCol="false" tIns="0" lIns="0" bIns="0" rIns="0">
            <a:spAutoFit/>
          </a:bodyPr>
          <a:lstStyle/>
          <a:p>
            <a:pPr algn="l">
              <a:lnSpc>
                <a:spcPts val="3080"/>
              </a:lnSpc>
            </a:pPr>
            <a:r>
              <a:rPr lang="en-US" sz="2200">
                <a:solidFill>
                  <a:srgbClr val="0A0A0A"/>
                </a:solidFill>
                <a:latin typeface="Quicksand"/>
                <a:ea typeface="Quicksand"/>
                <a:cs typeface="Quicksand"/>
                <a:sym typeface="Quicksand"/>
              </a:rPr>
              <a:t>Page 03</a:t>
            </a:r>
          </a:p>
        </p:txBody>
      </p:sp>
      <p:sp>
        <p:nvSpPr>
          <p:cNvPr name="TextBox 18" id="18"/>
          <p:cNvSpPr txBox="true"/>
          <p:nvPr/>
        </p:nvSpPr>
        <p:spPr>
          <a:xfrm rot="0">
            <a:off x="15855648" y="9220200"/>
            <a:ext cx="1403652" cy="372707"/>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2030</a:t>
            </a:r>
          </a:p>
        </p:txBody>
      </p:sp>
      <p:grpSp>
        <p:nvGrpSpPr>
          <p:cNvPr name="Group 19" id="19"/>
          <p:cNvGrpSpPr/>
          <p:nvPr/>
        </p:nvGrpSpPr>
        <p:grpSpPr>
          <a:xfrm rot="0">
            <a:off x="855218" y="4547320"/>
            <a:ext cx="7591954" cy="3650529"/>
            <a:chOff x="0" y="0"/>
            <a:chExt cx="10122606" cy="4867372"/>
          </a:xfrm>
        </p:grpSpPr>
        <p:pic>
          <p:nvPicPr>
            <p:cNvPr name="Picture 20" id="20"/>
            <p:cNvPicPr>
              <a:picLocks noChangeAspect="true"/>
            </p:cNvPicPr>
            <p:nvPr/>
          </p:nvPicPr>
          <p:blipFill>
            <a:blip r:embed="rId4"/>
            <a:srcRect l="0" t="17904" r="0" b="17904"/>
            <a:stretch>
              <a:fillRect/>
            </a:stretch>
          </p:blipFill>
          <p:spPr>
            <a:xfrm flipH="false" flipV="false">
              <a:off x="0" y="0"/>
              <a:ext cx="10122606" cy="4867372"/>
            </a:xfrm>
            <a:prstGeom prst="rect">
              <a:avLst/>
            </a:prstGeom>
          </p:spPr>
        </p:pic>
      </p:grpSp>
      <p:sp>
        <p:nvSpPr>
          <p:cNvPr name="TextBox 21" id="21"/>
          <p:cNvSpPr txBox="true"/>
          <p:nvPr/>
        </p:nvSpPr>
        <p:spPr>
          <a:xfrm rot="0">
            <a:off x="9127560" y="4461595"/>
            <a:ext cx="7685598" cy="28766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Hệ thống chúng tôi xoay quanh 6 thực thể cốt lỗi: Xe,Tài Xế, Phân Công, Bảo dưỡng, Vi Phạm Sự Cố và Lịch Đăng Kiểm.</a:t>
            </a:r>
          </a:p>
        </p:txBody>
      </p:sp>
      <p:sp>
        <p:nvSpPr>
          <p:cNvPr name="TextBox 22" id="22"/>
          <p:cNvSpPr txBox="true"/>
          <p:nvPr/>
        </p:nvSpPr>
        <p:spPr>
          <a:xfrm rot="0">
            <a:off x="1028700" y="2053083"/>
            <a:ext cx="8115300" cy="2124075"/>
          </a:xfrm>
          <a:prstGeom prst="rect">
            <a:avLst/>
          </a:prstGeom>
        </p:spPr>
        <p:txBody>
          <a:bodyPr anchor="t" rtlCol="false" tIns="0" lIns="0" bIns="0" rIns="0">
            <a:spAutoFit/>
          </a:bodyPr>
          <a:lstStyle/>
          <a:p>
            <a:pPr algn="l">
              <a:lnSpc>
                <a:spcPts val="8250"/>
              </a:lnSpc>
            </a:pPr>
            <a:r>
              <a:rPr lang="en-US" sz="7500" b="true">
                <a:solidFill>
                  <a:srgbClr val="0A0A0A"/>
                </a:solidFill>
                <a:latin typeface="Oswald Bold"/>
                <a:ea typeface="Oswald Bold"/>
                <a:cs typeface="Oswald Bold"/>
                <a:sym typeface="Oswald Bold"/>
              </a:rPr>
              <a:t>PHÂN TÍCH &amp; THIẾT KẾ HỆ THỐNG</a:t>
            </a:r>
          </a:p>
        </p:txBody>
      </p:sp>
      <p:sp>
        <p:nvSpPr>
          <p:cNvPr name="TextBox 23" id="23"/>
          <p:cNvSpPr txBox="true"/>
          <p:nvPr/>
        </p:nvSpPr>
        <p:spPr>
          <a:xfrm rot="0">
            <a:off x="4341795" y="4805577"/>
            <a:ext cx="3717041" cy="372744"/>
          </a:xfrm>
          <a:prstGeom prst="rect">
            <a:avLst/>
          </a:prstGeom>
        </p:spPr>
        <p:txBody>
          <a:bodyPr anchor="t" rtlCol="false" tIns="0" lIns="0" bIns="0" rIns="0">
            <a:spAutoFit/>
          </a:bodyPr>
          <a:lstStyle/>
          <a:p>
            <a:pPr algn="ctr">
              <a:lnSpc>
                <a:spcPts val="3080"/>
              </a:lnSpc>
            </a:pPr>
            <a:r>
              <a:rPr lang="en-US" b="true" sz="2200">
                <a:solidFill>
                  <a:srgbClr val="0A0A0A"/>
                </a:solidFill>
                <a:latin typeface="Quicksand Bold"/>
                <a:ea typeface="Quicksand Bold"/>
                <a:cs typeface="Quicksand Bold"/>
                <a:sym typeface="Quicksand Bold"/>
              </a:rPr>
              <a:t>Mối Quan hệ Logic</a:t>
            </a:r>
          </a:p>
        </p:txBody>
      </p:sp>
      <p:grpSp>
        <p:nvGrpSpPr>
          <p:cNvPr name="Group 24" id="24"/>
          <p:cNvGrpSpPr/>
          <p:nvPr/>
        </p:nvGrpSpPr>
        <p:grpSpPr>
          <a:xfrm rot="0">
            <a:off x="8856013" y="3527064"/>
            <a:ext cx="5936687" cy="650094"/>
            <a:chOff x="0" y="0"/>
            <a:chExt cx="7915582" cy="866792"/>
          </a:xfrm>
        </p:grpSpPr>
        <p:grpSp>
          <p:nvGrpSpPr>
            <p:cNvPr name="Group 25" id="25"/>
            <p:cNvGrpSpPr/>
            <p:nvPr/>
          </p:nvGrpSpPr>
          <p:grpSpPr>
            <a:xfrm rot="0">
              <a:off x="0" y="0"/>
              <a:ext cx="7915582" cy="866792"/>
              <a:chOff x="0" y="0"/>
              <a:chExt cx="1094446" cy="119847"/>
            </a:xfrm>
          </p:grpSpPr>
          <p:sp>
            <p:nvSpPr>
              <p:cNvPr name="Freeform 26" id="26"/>
              <p:cNvSpPr/>
              <p:nvPr/>
            </p:nvSpPr>
            <p:spPr>
              <a:xfrm flipH="false" flipV="false" rot="0">
                <a:off x="0" y="0"/>
                <a:ext cx="1094446" cy="119847"/>
              </a:xfrm>
              <a:custGeom>
                <a:avLst/>
                <a:gdLst/>
                <a:ahLst/>
                <a:cxnLst/>
                <a:rect r="r" b="b" t="t" l="l"/>
                <a:pathLst>
                  <a:path h="119847" w="1094446">
                    <a:moveTo>
                      <a:pt x="44339" y="0"/>
                    </a:moveTo>
                    <a:lnTo>
                      <a:pt x="1050108" y="0"/>
                    </a:lnTo>
                    <a:cubicBezTo>
                      <a:pt x="1074595" y="0"/>
                      <a:pt x="1094446" y="19851"/>
                      <a:pt x="1094446" y="44339"/>
                    </a:cubicBezTo>
                    <a:lnTo>
                      <a:pt x="1094446" y="75508"/>
                    </a:lnTo>
                    <a:cubicBezTo>
                      <a:pt x="1094446" y="87267"/>
                      <a:pt x="1089775" y="98545"/>
                      <a:pt x="1081460" y="106860"/>
                    </a:cubicBezTo>
                    <a:cubicBezTo>
                      <a:pt x="1073145" y="115175"/>
                      <a:pt x="1061867" y="119847"/>
                      <a:pt x="1050108" y="119847"/>
                    </a:cubicBezTo>
                    <a:lnTo>
                      <a:pt x="44339" y="119847"/>
                    </a:lnTo>
                    <a:cubicBezTo>
                      <a:pt x="19851" y="119847"/>
                      <a:pt x="0" y="99996"/>
                      <a:pt x="0" y="75508"/>
                    </a:cubicBezTo>
                    <a:lnTo>
                      <a:pt x="0" y="44339"/>
                    </a:lnTo>
                    <a:cubicBezTo>
                      <a:pt x="0" y="32579"/>
                      <a:pt x="4671" y="21302"/>
                      <a:pt x="12987" y="12987"/>
                    </a:cubicBezTo>
                    <a:cubicBezTo>
                      <a:pt x="21302" y="4671"/>
                      <a:pt x="32579" y="0"/>
                      <a:pt x="44339" y="0"/>
                    </a:cubicBezTo>
                    <a:close/>
                  </a:path>
                </a:pathLst>
              </a:custGeom>
              <a:solidFill>
                <a:srgbClr val="0CC0DF"/>
              </a:solidFill>
              <a:ln w="9525" cap="rnd">
                <a:solidFill>
                  <a:srgbClr val="0A0A0A"/>
                </a:solidFill>
                <a:prstDash val="solid"/>
                <a:round/>
              </a:ln>
            </p:spPr>
          </p:sp>
          <p:sp>
            <p:nvSpPr>
              <p:cNvPr name="TextBox 27" id="27"/>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417578" y="47996"/>
              <a:ext cx="7080427" cy="704124"/>
            </a:xfrm>
            <a:prstGeom prst="rect">
              <a:avLst/>
            </a:prstGeom>
          </p:spPr>
          <p:txBody>
            <a:bodyPr anchor="t" rtlCol="false" tIns="0" lIns="0" bIns="0" rIns="0">
              <a:spAutoFit/>
            </a:bodyPr>
            <a:lstStyle/>
            <a:p>
              <a:pPr algn="ctr">
                <a:lnSpc>
                  <a:spcPts val="4400"/>
                </a:lnSpc>
              </a:pPr>
              <a:r>
                <a:rPr lang="en-US" b="true" sz="3143">
                  <a:solidFill>
                    <a:srgbClr val="0A0A0A"/>
                  </a:solidFill>
                  <a:latin typeface="Quicksand Bold"/>
                  <a:ea typeface="Quicksand Bold"/>
                  <a:cs typeface="Quicksand Bold"/>
                  <a:sym typeface="Quicksand Bold"/>
                </a:rPr>
                <a:t>Các Thực thể Chính</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sp>
        <p:nvSpPr>
          <p:cNvPr name="TextBox 4" id="4"/>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grpSp>
        <p:nvGrpSpPr>
          <p:cNvPr name="Group 5" id="5"/>
          <p:cNvGrpSpPr/>
          <p:nvPr/>
        </p:nvGrpSpPr>
        <p:grpSpPr>
          <a:xfrm rot="0">
            <a:off x="900952" y="1761794"/>
            <a:ext cx="5316350" cy="582164"/>
            <a:chOff x="0" y="0"/>
            <a:chExt cx="7088466" cy="776219"/>
          </a:xfrm>
        </p:grpSpPr>
        <p:grpSp>
          <p:nvGrpSpPr>
            <p:cNvPr name="Group 6" id="6"/>
            <p:cNvGrpSpPr/>
            <p:nvPr/>
          </p:nvGrpSpPr>
          <p:grpSpPr>
            <a:xfrm rot="0">
              <a:off x="0" y="0"/>
              <a:ext cx="7088466" cy="776219"/>
              <a:chOff x="0" y="0"/>
              <a:chExt cx="1094446" cy="119847"/>
            </a:xfrm>
          </p:grpSpPr>
          <p:sp>
            <p:nvSpPr>
              <p:cNvPr name="Freeform 7" id="7"/>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8" id="8"/>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73944" y="55064"/>
              <a:ext cx="6340578" cy="618466"/>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Mối Quan hệ Logic</a:t>
              </a:r>
            </a:p>
          </p:txBody>
        </p:sp>
      </p:grpSp>
      <p:grpSp>
        <p:nvGrpSpPr>
          <p:cNvPr name="Group 10" id="10"/>
          <p:cNvGrpSpPr/>
          <p:nvPr/>
        </p:nvGrpSpPr>
        <p:grpSpPr>
          <a:xfrm rot="0">
            <a:off x="4294327" y="633856"/>
            <a:ext cx="4313131" cy="453757"/>
            <a:chOff x="0" y="0"/>
            <a:chExt cx="1135969" cy="119508"/>
          </a:xfrm>
        </p:grpSpPr>
        <p:sp>
          <p:nvSpPr>
            <p:cNvPr name="Freeform 11" id="11"/>
            <p:cNvSpPr/>
            <p:nvPr/>
          </p:nvSpPr>
          <p:spPr>
            <a:xfrm flipH="false" flipV="false" rot="0">
              <a:off x="0" y="0"/>
              <a:ext cx="1135969" cy="119508"/>
            </a:xfrm>
            <a:custGeom>
              <a:avLst/>
              <a:gdLst/>
              <a:ahLst/>
              <a:cxnLst/>
              <a:rect r="r" b="b" t="t" l="l"/>
              <a:pathLst>
                <a:path h="119508" w="1135969">
                  <a:moveTo>
                    <a:pt x="59754" y="0"/>
                  </a:moveTo>
                  <a:lnTo>
                    <a:pt x="1076215" y="0"/>
                  </a:lnTo>
                  <a:cubicBezTo>
                    <a:pt x="1092063" y="0"/>
                    <a:pt x="1107261" y="6295"/>
                    <a:pt x="1118467" y="17502"/>
                  </a:cubicBezTo>
                  <a:cubicBezTo>
                    <a:pt x="1129673" y="28708"/>
                    <a:pt x="1135969" y="43906"/>
                    <a:pt x="1135969" y="59754"/>
                  </a:cubicBezTo>
                  <a:lnTo>
                    <a:pt x="1135969" y="59754"/>
                  </a:lnTo>
                  <a:cubicBezTo>
                    <a:pt x="1135969" y="75602"/>
                    <a:pt x="1129673" y="90800"/>
                    <a:pt x="1118467" y="102006"/>
                  </a:cubicBezTo>
                  <a:cubicBezTo>
                    <a:pt x="1107261" y="113213"/>
                    <a:pt x="1092063" y="119508"/>
                    <a:pt x="1076215" y="119508"/>
                  </a:cubicBezTo>
                  <a:lnTo>
                    <a:pt x="59754" y="119508"/>
                  </a:lnTo>
                  <a:cubicBezTo>
                    <a:pt x="43906" y="119508"/>
                    <a:pt x="28708" y="113213"/>
                    <a:pt x="17502" y="102006"/>
                  </a:cubicBezTo>
                  <a:cubicBezTo>
                    <a:pt x="6295" y="90800"/>
                    <a:pt x="0" y="75602"/>
                    <a:pt x="0" y="59754"/>
                  </a:cubicBezTo>
                  <a:lnTo>
                    <a:pt x="0" y="59754"/>
                  </a:lnTo>
                  <a:cubicBezTo>
                    <a:pt x="0" y="43906"/>
                    <a:pt x="6295" y="28708"/>
                    <a:pt x="17502" y="17502"/>
                  </a:cubicBezTo>
                  <a:cubicBezTo>
                    <a:pt x="28708" y="6295"/>
                    <a:pt x="43906" y="0"/>
                    <a:pt x="59754" y="0"/>
                  </a:cubicBezTo>
                  <a:close/>
                </a:path>
              </a:pathLst>
            </a:custGeom>
            <a:solidFill>
              <a:srgbClr val="D5CCC8"/>
            </a:solidFill>
          </p:spPr>
        </p:sp>
        <p:sp>
          <p:nvSpPr>
            <p:cNvPr name="TextBox 12" id="12"/>
            <p:cNvSpPr txBox="true"/>
            <p:nvPr/>
          </p:nvSpPr>
          <p:spPr>
            <a:xfrm>
              <a:off x="0" y="-38100"/>
              <a:ext cx="1135969" cy="157608"/>
            </a:xfrm>
            <a:prstGeom prst="rect">
              <a:avLst/>
            </a:prstGeom>
          </p:spPr>
          <p:txBody>
            <a:bodyPr anchor="ctr" rtlCol="false" tIns="50800" lIns="50800" bIns="50800" rIns="50800"/>
            <a:lstStyle/>
            <a:p>
              <a:pPr algn="ctr">
                <a:lnSpc>
                  <a:spcPts val="3080"/>
                </a:lnSpc>
              </a:pPr>
            </a:p>
          </p:txBody>
        </p:sp>
      </p:grpSp>
      <p:grpSp>
        <p:nvGrpSpPr>
          <p:cNvPr name="Group 13" id="13"/>
          <p:cNvGrpSpPr/>
          <p:nvPr/>
        </p:nvGrpSpPr>
        <p:grpSpPr>
          <a:xfrm rot="0">
            <a:off x="1028700" y="633856"/>
            <a:ext cx="16263480" cy="394844"/>
            <a:chOff x="0" y="0"/>
            <a:chExt cx="21684640" cy="526458"/>
          </a:xfrm>
        </p:grpSpPr>
        <p:grpSp>
          <p:nvGrpSpPr>
            <p:cNvPr name="Group 14" id="14"/>
            <p:cNvGrpSpPr/>
            <p:nvPr/>
          </p:nvGrpSpPr>
          <p:grpSpPr>
            <a:xfrm rot="0">
              <a:off x="18520735" y="0"/>
              <a:ext cx="3163905" cy="526409"/>
              <a:chOff x="0" y="0"/>
              <a:chExt cx="624969" cy="103982"/>
            </a:xfrm>
          </p:grpSpPr>
          <p:sp>
            <p:nvSpPr>
              <p:cNvPr name="Freeform 15" id="15"/>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6" id="16"/>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9" id="19"/>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20" id="20"/>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21" id="21"/>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22" id="22"/>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sp>
        <p:nvSpPr>
          <p:cNvPr name="TextBox 23" id="23"/>
          <p:cNvSpPr txBox="true"/>
          <p:nvPr/>
        </p:nvSpPr>
        <p:spPr>
          <a:xfrm rot="0">
            <a:off x="281333" y="2762123"/>
            <a:ext cx="17725334" cy="6496177"/>
          </a:xfrm>
          <a:prstGeom prst="rect">
            <a:avLst/>
          </a:prstGeom>
        </p:spPr>
        <p:txBody>
          <a:bodyPr anchor="t" rtlCol="false" tIns="0" lIns="0" bIns="0" rIns="0">
            <a:spAutoFit/>
          </a:bodyPr>
          <a:lstStyle/>
          <a:p>
            <a:pPr algn="just" marL="889507" indent="-444754" lvl="1">
              <a:lnSpc>
                <a:spcPts val="5767"/>
              </a:lnSpc>
              <a:buFont typeface="Arial"/>
              <a:buChar char="•"/>
            </a:pPr>
            <a:r>
              <a:rPr lang="en-US" sz="4119">
                <a:solidFill>
                  <a:srgbClr val="0A0A0A"/>
                </a:solidFill>
                <a:latin typeface="Helvetica World"/>
                <a:ea typeface="Helvetica World"/>
                <a:cs typeface="Helvetica World"/>
                <a:sym typeface="Helvetica World"/>
              </a:rPr>
              <a:t>Mỗi sự kiện PhanCong phải liên kết với một Xe và một TaiXe cụ thể (1:N). Điều này đảm bảo tính chịu trách nhiệm trong mỗi chuyến đi.</a:t>
            </a:r>
          </a:p>
          <a:p>
            <a:pPr algn="just" marL="889507" indent="-444754" lvl="1">
              <a:lnSpc>
                <a:spcPts val="5767"/>
              </a:lnSpc>
              <a:buFont typeface="Arial"/>
              <a:buChar char="•"/>
            </a:pPr>
            <a:r>
              <a:rPr lang="en-US" sz="4119">
                <a:solidFill>
                  <a:srgbClr val="0A0A0A"/>
                </a:solidFill>
                <a:latin typeface="Helvetica World"/>
                <a:ea typeface="Helvetica World"/>
                <a:cs typeface="Helvetica World"/>
                <a:sym typeface="Helvetica World"/>
              </a:rPr>
              <a:t>Mỗi Xe sẽ có nhiều lần DangKiem và nhiều lần BaoDuong trong suốt vòng đời của nó. Việc này cho phép hệ thống lưu trữ toàn bộ lịch sử duy tu, bảo trì và pháp lý của phương tiện.</a:t>
            </a:r>
          </a:p>
          <a:p>
            <a:pPr algn="just" marL="889507" indent="-444754" lvl="1">
              <a:lnSpc>
                <a:spcPts val="5767"/>
              </a:lnSpc>
              <a:buFont typeface="Arial"/>
              <a:buChar char="•"/>
            </a:pPr>
            <a:r>
              <a:rPr lang="en-US" sz="4119">
                <a:solidFill>
                  <a:srgbClr val="0A0A0A"/>
                </a:solidFill>
                <a:latin typeface="Helvetica World"/>
                <a:ea typeface="Helvetica World"/>
                <a:cs typeface="Helvetica World"/>
                <a:sym typeface="Helvetica World"/>
              </a:rPr>
              <a:t>Khi ghi nhận ViPham, ta biết ngay TaiXe nào và Xe nào đã tham gia. Đây là cơ sở dữ liệu quan trọng phục vụ cho việc truy vấn, báo cáo và đánh giá kỷ luật sau này.</a:t>
            </a:r>
          </a:p>
          <a:p>
            <a:pPr algn="just">
              <a:lnSpc>
                <a:spcPts val="5767"/>
              </a:lnSpc>
            </a:pP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8658849" y="698964"/>
            <a:ext cx="3345597" cy="394844"/>
            <a:chOff x="0" y="0"/>
            <a:chExt cx="881145" cy="103992"/>
          </a:xfrm>
        </p:grpSpPr>
        <p:sp>
          <p:nvSpPr>
            <p:cNvPr name="Freeform 5" id="5"/>
            <p:cNvSpPr/>
            <p:nvPr/>
          </p:nvSpPr>
          <p:spPr>
            <a:xfrm flipH="false" flipV="false" rot="0">
              <a:off x="0" y="0"/>
              <a:ext cx="881145" cy="103992"/>
            </a:xfrm>
            <a:custGeom>
              <a:avLst/>
              <a:gdLst/>
              <a:ahLst/>
              <a:cxnLst/>
              <a:rect r="r" b="b" t="t" l="l"/>
              <a:pathLst>
                <a:path h="103992" w="881145">
                  <a:moveTo>
                    <a:pt x="51996" y="0"/>
                  </a:moveTo>
                  <a:lnTo>
                    <a:pt x="829149" y="0"/>
                  </a:lnTo>
                  <a:cubicBezTo>
                    <a:pt x="857865" y="0"/>
                    <a:pt x="881145" y="23279"/>
                    <a:pt x="881145" y="51996"/>
                  </a:cubicBezTo>
                  <a:lnTo>
                    <a:pt x="881145" y="51996"/>
                  </a:lnTo>
                  <a:cubicBezTo>
                    <a:pt x="881145" y="80712"/>
                    <a:pt x="857865" y="103992"/>
                    <a:pt x="829149"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881145"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9144000" y="1590466"/>
            <a:ext cx="8448010" cy="7232663"/>
            <a:chOff x="0" y="0"/>
            <a:chExt cx="949380" cy="812800"/>
          </a:xfrm>
        </p:grpSpPr>
        <p:sp>
          <p:nvSpPr>
            <p:cNvPr name="Freeform 18" id="18"/>
            <p:cNvSpPr/>
            <p:nvPr/>
          </p:nvSpPr>
          <p:spPr>
            <a:xfrm flipH="false" flipV="false" rot="0">
              <a:off x="0" y="0"/>
              <a:ext cx="949380" cy="812800"/>
            </a:xfrm>
            <a:custGeom>
              <a:avLst/>
              <a:gdLst/>
              <a:ahLst/>
              <a:cxnLst/>
              <a:rect r="r" b="b" t="t" l="l"/>
              <a:pathLst>
                <a:path h="812800" w="949380">
                  <a:moveTo>
                    <a:pt x="0" y="0"/>
                  </a:moveTo>
                  <a:lnTo>
                    <a:pt x="949380" y="0"/>
                  </a:lnTo>
                  <a:lnTo>
                    <a:pt x="949380" y="812800"/>
                  </a:lnTo>
                  <a:lnTo>
                    <a:pt x="0" y="812800"/>
                  </a:lnTo>
                  <a:close/>
                </a:path>
              </a:pathLst>
            </a:custGeom>
            <a:blipFill>
              <a:blip r:embed="rId4"/>
              <a:stretch>
                <a:fillRect l="-18274" t="-9647" r="-24940" b="-2400"/>
              </a:stretch>
            </a:blipFill>
            <a:ln cap="sq">
              <a:noFill/>
              <a:prstDash val="solid"/>
              <a:miter/>
            </a:ln>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1028700" y="2546032"/>
            <a:ext cx="7630149" cy="50483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-Giao diện đăng nhập đảm bảo chỉ những người có quyền mới được sử dụng hệ thống và được phân quyền phù hợp</a:t>
            </a:r>
          </a:p>
          <a:p>
            <a:pPr algn="just">
              <a:lnSpc>
                <a:spcPts val="5767"/>
              </a:lnSpc>
            </a:pPr>
            <a:r>
              <a:rPr lang="en-US" sz="4119">
                <a:solidFill>
                  <a:srgbClr val="0A0A0A"/>
                </a:solidFill>
                <a:latin typeface="Helvetica World"/>
                <a:ea typeface="Helvetica World"/>
                <a:cs typeface="Helvetica World"/>
                <a:sym typeface="Helvetica World"/>
              </a:rPr>
              <a:t>-Thiết kế thân thiện giúp người sử dụng thao tác nhanh hơn và dễ bảo trì nâng cấp sau này.</a:t>
            </a:r>
          </a:p>
        </p:txBody>
      </p:sp>
      <p:grpSp>
        <p:nvGrpSpPr>
          <p:cNvPr name="Group 21" id="21"/>
          <p:cNvGrpSpPr/>
          <p:nvPr/>
        </p:nvGrpSpPr>
        <p:grpSpPr>
          <a:xfrm rot="0">
            <a:off x="1636153" y="1761794"/>
            <a:ext cx="5316350" cy="582164"/>
            <a:chOff x="0" y="0"/>
            <a:chExt cx="7088466" cy="776219"/>
          </a:xfrm>
        </p:grpSpPr>
        <p:grpSp>
          <p:nvGrpSpPr>
            <p:cNvPr name="Group 22" id="22"/>
            <p:cNvGrpSpPr/>
            <p:nvPr/>
          </p:nvGrpSpPr>
          <p:grpSpPr>
            <a:xfrm rot="0">
              <a:off x="0" y="0"/>
              <a:ext cx="7088466" cy="776219"/>
              <a:chOff x="0" y="0"/>
              <a:chExt cx="1094446" cy="119847"/>
            </a:xfrm>
          </p:grpSpPr>
          <p:sp>
            <p:nvSpPr>
              <p:cNvPr name="Freeform 23" id="23"/>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24" id="24"/>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73944" y="55064"/>
              <a:ext cx="6340578" cy="612703"/>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Giao diện đăng nhập</a:t>
              </a:r>
            </a:p>
          </p:txBody>
        </p:sp>
      </p:gr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8658849" y="698964"/>
            <a:ext cx="3345597" cy="394844"/>
            <a:chOff x="0" y="0"/>
            <a:chExt cx="881145" cy="103992"/>
          </a:xfrm>
        </p:grpSpPr>
        <p:sp>
          <p:nvSpPr>
            <p:cNvPr name="Freeform 5" id="5"/>
            <p:cNvSpPr/>
            <p:nvPr/>
          </p:nvSpPr>
          <p:spPr>
            <a:xfrm flipH="false" flipV="false" rot="0">
              <a:off x="0" y="0"/>
              <a:ext cx="881145" cy="103992"/>
            </a:xfrm>
            <a:custGeom>
              <a:avLst/>
              <a:gdLst/>
              <a:ahLst/>
              <a:cxnLst/>
              <a:rect r="r" b="b" t="t" l="l"/>
              <a:pathLst>
                <a:path h="103992" w="881145">
                  <a:moveTo>
                    <a:pt x="51996" y="0"/>
                  </a:moveTo>
                  <a:lnTo>
                    <a:pt x="829149" y="0"/>
                  </a:lnTo>
                  <a:cubicBezTo>
                    <a:pt x="857865" y="0"/>
                    <a:pt x="881145" y="23279"/>
                    <a:pt x="881145" y="51996"/>
                  </a:cubicBezTo>
                  <a:lnTo>
                    <a:pt x="881145" y="51996"/>
                  </a:lnTo>
                  <a:cubicBezTo>
                    <a:pt x="881145" y="80712"/>
                    <a:pt x="857865" y="103992"/>
                    <a:pt x="829149"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881145"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8524006" y="1577791"/>
            <a:ext cx="9316116" cy="7232663"/>
            <a:chOff x="0" y="0"/>
            <a:chExt cx="1046937" cy="812800"/>
          </a:xfrm>
        </p:grpSpPr>
        <p:sp>
          <p:nvSpPr>
            <p:cNvPr name="Freeform 18" id="18"/>
            <p:cNvSpPr/>
            <p:nvPr/>
          </p:nvSpPr>
          <p:spPr>
            <a:xfrm flipH="false" flipV="false" rot="0">
              <a:off x="0" y="0"/>
              <a:ext cx="1046937" cy="812800"/>
            </a:xfrm>
            <a:custGeom>
              <a:avLst/>
              <a:gdLst/>
              <a:ahLst/>
              <a:cxnLst/>
              <a:rect r="r" b="b" t="t" l="l"/>
              <a:pathLst>
                <a:path h="812800" w="1046937">
                  <a:moveTo>
                    <a:pt x="0" y="0"/>
                  </a:moveTo>
                  <a:lnTo>
                    <a:pt x="1046937" y="0"/>
                  </a:lnTo>
                  <a:lnTo>
                    <a:pt x="1046937" y="812800"/>
                  </a:lnTo>
                  <a:lnTo>
                    <a:pt x="0" y="812800"/>
                  </a:lnTo>
                  <a:close/>
                </a:path>
              </a:pathLst>
            </a:custGeom>
            <a:blipFill>
              <a:blip r:embed="rId4"/>
              <a:stretch>
                <a:fillRect l="-10410" t="-7029" r="-14551" b="-3300"/>
              </a:stretch>
            </a:blipFill>
            <a:ln cap="sq">
              <a:noFill/>
              <a:prstDash val="solid"/>
              <a:miter/>
            </a:ln>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1028700" y="2546032"/>
            <a:ext cx="6914203" cy="50483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-Menu chính đóng vai trò là trung tâm điều hướng, hỗ trợ sử dụng hệ thống nhanh chóng và hiệu quả.</a:t>
            </a:r>
          </a:p>
          <a:p>
            <a:pPr algn="just">
              <a:lnSpc>
                <a:spcPts val="5767"/>
              </a:lnSpc>
            </a:pPr>
            <a:r>
              <a:rPr lang="en-US" sz="4119">
                <a:solidFill>
                  <a:srgbClr val="0A0A0A"/>
                </a:solidFill>
                <a:latin typeface="Helvetica World"/>
                <a:ea typeface="Helvetica World"/>
                <a:cs typeface="Helvetica World"/>
                <a:sym typeface="Helvetica World"/>
              </a:rPr>
              <a:t>-Giao diện được tối ưu hóa giúp người dùng dễ theo dõi và quản lý tổng thể.</a:t>
            </a:r>
          </a:p>
        </p:txBody>
      </p:sp>
      <p:grpSp>
        <p:nvGrpSpPr>
          <p:cNvPr name="Group 21" id="21"/>
          <p:cNvGrpSpPr/>
          <p:nvPr/>
        </p:nvGrpSpPr>
        <p:grpSpPr>
          <a:xfrm rot="0">
            <a:off x="1636153" y="1761794"/>
            <a:ext cx="5316350" cy="582164"/>
            <a:chOff x="0" y="0"/>
            <a:chExt cx="7088466" cy="776219"/>
          </a:xfrm>
        </p:grpSpPr>
        <p:grpSp>
          <p:nvGrpSpPr>
            <p:cNvPr name="Group 22" id="22"/>
            <p:cNvGrpSpPr/>
            <p:nvPr/>
          </p:nvGrpSpPr>
          <p:grpSpPr>
            <a:xfrm rot="0">
              <a:off x="0" y="0"/>
              <a:ext cx="7088466" cy="776219"/>
              <a:chOff x="0" y="0"/>
              <a:chExt cx="1094446" cy="119847"/>
            </a:xfrm>
          </p:grpSpPr>
          <p:sp>
            <p:nvSpPr>
              <p:cNvPr name="Freeform 23" id="23"/>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24" id="24"/>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73944" y="55064"/>
              <a:ext cx="6340578" cy="612703"/>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Giao diện menu chính</a:t>
              </a:r>
            </a:p>
          </p:txBody>
        </p:sp>
      </p:grpSp>
    </p:spTree>
  </p:cSld>
  <p:clrMapOvr>
    <a:masterClrMapping/>
  </p:clrMapOvr>
  <p:transition spd="fast">
    <p:circl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8612261" y="698964"/>
            <a:ext cx="3345597" cy="394844"/>
            <a:chOff x="0" y="0"/>
            <a:chExt cx="881145" cy="103992"/>
          </a:xfrm>
        </p:grpSpPr>
        <p:sp>
          <p:nvSpPr>
            <p:cNvPr name="Freeform 5" id="5"/>
            <p:cNvSpPr/>
            <p:nvPr/>
          </p:nvSpPr>
          <p:spPr>
            <a:xfrm flipH="false" flipV="false" rot="0">
              <a:off x="0" y="0"/>
              <a:ext cx="881145" cy="103992"/>
            </a:xfrm>
            <a:custGeom>
              <a:avLst/>
              <a:gdLst/>
              <a:ahLst/>
              <a:cxnLst/>
              <a:rect r="r" b="b" t="t" l="l"/>
              <a:pathLst>
                <a:path h="103992" w="881145">
                  <a:moveTo>
                    <a:pt x="51996" y="0"/>
                  </a:moveTo>
                  <a:lnTo>
                    <a:pt x="829149" y="0"/>
                  </a:lnTo>
                  <a:cubicBezTo>
                    <a:pt x="857865" y="0"/>
                    <a:pt x="881145" y="23279"/>
                    <a:pt x="881145" y="51996"/>
                  </a:cubicBezTo>
                  <a:lnTo>
                    <a:pt x="881145" y="51996"/>
                  </a:lnTo>
                  <a:cubicBezTo>
                    <a:pt x="881145" y="80712"/>
                    <a:pt x="857865" y="103992"/>
                    <a:pt x="829149"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881145"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752624" y="3333647"/>
            <a:ext cx="6755110" cy="4481067"/>
            <a:chOff x="0" y="0"/>
            <a:chExt cx="1046543" cy="694235"/>
          </a:xfrm>
        </p:grpSpPr>
        <p:sp>
          <p:nvSpPr>
            <p:cNvPr name="Freeform 18" id="18"/>
            <p:cNvSpPr/>
            <p:nvPr/>
          </p:nvSpPr>
          <p:spPr>
            <a:xfrm flipH="false" flipV="false" rot="0">
              <a:off x="0" y="0"/>
              <a:ext cx="1046543" cy="694235"/>
            </a:xfrm>
            <a:custGeom>
              <a:avLst/>
              <a:gdLst/>
              <a:ahLst/>
              <a:cxnLst/>
              <a:rect r="r" b="b" t="t" l="l"/>
              <a:pathLst>
                <a:path h="694235" w="1046543">
                  <a:moveTo>
                    <a:pt x="0" y="0"/>
                  </a:moveTo>
                  <a:lnTo>
                    <a:pt x="1046543" y="0"/>
                  </a:lnTo>
                  <a:lnTo>
                    <a:pt x="1046543" y="694235"/>
                  </a:lnTo>
                  <a:lnTo>
                    <a:pt x="0" y="694235"/>
                  </a:lnTo>
                  <a:close/>
                </a:path>
              </a:pathLst>
            </a:custGeom>
            <a:blipFill>
              <a:blip r:embed="rId4"/>
              <a:stretch>
                <a:fillRect l="-467" t="0" r="-467" b="0"/>
              </a:stretch>
            </a:blipFill>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7816414" y="1381730"/>
            <a:ext cx="9662490" cy="72200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-Quản lý tập trung toàn bộ thông tin xe của doanh nghiệp và theo dõi tình trạng xe để điều phối hợp lý.</a:t>
            </a:r>
          </a:p>
          <a:p>
            <a:pPr algn="just">
              <a:lnSpc>
                <a:spcPts val="5767"/>
              </a:lnSpc>
            </a:pPr>
          </a:p>
          <a:p>
            <a:pPr algn="just">
              <a:lnSpc>
                <a:spcPts val="5767"/>
              </a:lnSpc>
            </a:pPr>
            <a:r>
              <a:rPr lang="en-US" sz="4119">
                <a:solidFill>
                  <a:srgbClr val="0A0A0A"/>
                </a:solidFill>
                <a:latin typeface="Helvetica World"/>
                <a:ea typeface="Helvetica World"/>
                <a:cs typeface="Helvetica World"/>
                <a:sym typeface="Helvetica World"/>
              </a:rPr>
              <a:t>-Thê</a:t>
            </a:r>
            <a:r>
              <a:rPr lang="en-US" sz="4119">
                <a:solidFill>
                  <a:srgbClr val="0A0A0A"/>
                </a:solidFill>
                <a:latin typeface="Helvetica World"/>
                <a:ea typeface="Helvetica World"/>
                <a:cs typeface="Helvetica World"/>
                <a:sym typeface="Helvetica World"/>
              </a:rPr>
              <a:t>m / Sửa / Xóa thông tin xe</a:t>
            </a:r>
          </a:p>
          <a:p>
            <a:pPr algn="just">
              <a:lnSpc>
                <a:spcPts val="5767"/>
              </a:lnSpc>
            </a:pPr>
            <a:r>
              <a:rPr lang="en-US" sz="4119">
                <a:solidFill>
                  <a:srgbClr val="0A0A0A"/>
                </a:solidFill>
                <a:latin typeface="Helvetica World"/>
                <a:ea typeface="Helvetica World"/>
                <a:cs typeface="Helvetica World"/>
                <a:sym typeface="Helvetica World"/>
              </a:rPr>
              <a:t>-</a:t>
            </a:r>
            <a:r>
              <a:rPr lang="en-US" sz="4119">
                <a:solidFill>
                  <a:srgbClr val="0A0A0A"/>
                </a:solidFill>
                <a:latin typeface="Helvetica World"/>
                <a:ea typeface="Helvetica World"/>
                <a:cs typeface="Helvetica World"/>
                <a:sym typeface="Helvetica World"/>
              </a:rPr>
              <a:t>Tìm kiếm nhanh theo biển số, loại xe</a:t>
            </a:r>
          </a:p>
          <a:p>
            <a:pPr algn="just">
              <a:lnSpc>
                <a:spcPts val="5767"/>
              </a:lnSpc>
            </a:pPr>
            <a:r>
              <a:rPr lang="en-US" sz="4119">
                <a:solidFill>
                  <a:srgbClr val="0A0A0A"/>
                </a:solidFill>
                <a:latin typeface="Helvetica World"/>
                <a:ea typeface="Helvetica World"/>
                <a:cs typeface="Helvetica World"/>
                <a:sym typeface="Helvetica World"/>
              </a:rPr>
              <a:t>-</a:t>
            </a:r>
            <a:r>
              <a:rPr lang="en-US" sz="4119">
                <a:solidFill>
                  <a:srgbClr val="0A0A0A"/>
                </a:solidFill>
                <a:latin typeface="Helvetica World"/>
                <a:ea typeface="Helvetica World"/>
                <a:cs typeface="Helvetica World"/>
                <a:sym typeface="Helvetica World"/>
              </a:rPr>
              <a:t>Hiển thị trạng thái xe: đang hoạt động / bảo dưỡng / ngưng sử dụng</a:t>
            </a:r>
          </a:p>
          <a:p>
            <a:pPr algn="just">
              <a:lnSpc>
                <a:spcPts val="5767"/>
              </a:lnSpc>
            </a:pPr>
            <a:r>
              <a:rPr lang="en-US" sz="4119">
                <a:solidFill>
                  <a:srgbClr val="0A0A0A"/>
                </a:solidFill>
                <a:latin typeface="Helvetica World"/>
                <a:ea typeface="Helvetica World"/>
                <a:cs typeface="Helvetica World"/>
                <a:sym typeface="Helvetica World"/>
              </a:rPr>
              <a:t>-</a:t>
            </a:r>
            <a:r>
              <a:rPr lang="en-US" sz="4119">
                <a:solidFill>
                  <a:srgbClr val="0A0A0A"/>
                </a:solidFill>
                <a:latin typeface="Helvetica World"/>
                <a:ea typeface="Helvetica World"/>
                <a:cs typeface="Helvetica World"/>
                <a:sym typeface="Helvetica World"/>
              </a:rPr>
              <a:t>Theo dõi ngày đăng kiểm &amp; nhắc nhở khi sắp đến hạn.</a:t>
            </a:r>
          </a:p>
        </p:txBody>
      </p:sp>
      <p:grpSp>
        <p:nvGrpSpPr>
          <p:cNvPr name="Group 21" id="21"/>
          <p:cNvGrpSpPr/>
          <p:nvPr/>
        </p:nvGrpSpPr>
        <p:grpSpPr>
          <a:xfrm rot="0">
            <a:off x="1028700" y="1658590"/>
            <a:ext cx="5316350" cy="582164"/>
            <a:chOff x="0" y="0"/>
            <a:chExt cx="7088466" cy="776219"/>
          </a:xfrm>
        </p:grpSpPr>
        <p:grpSp>
          <p:nvGrpSpPr>
            <p:cNvPr name="Group 22" id="22"/>
            <p:cNvGrpSpPr/>
            <p:nvPr/>
          </p:nvGrpSpPr>
          <p:grpSpPr>
            <a:xfrm rot="0">
              <a:off x="0" y="0"/>
              <a:ext cx="7088466" cy="776219"/>
              <a:chOff x="0" y="0"/>
              <a:chExt cx="1094446" cy="119847"/>
            </a:xfrm>
          </p:grpSpPr>
          <p:sp>
            <p:nvSpPr>
              <p:cNvPr name="Freeform 23" id="23"/>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24" id="24"/>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73944" y="55064"/>
              <a:ext cx="6340578" cy="612703"/>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Giao diện quản lý xe</a:t>
              </a:r>
            </a:p>
          </p:txBody>
        </p:sp>
      </p:gr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8612261" y="698964"/>
            <a:ext cx="3345597" cy="394844"/>
            <a:chOff x="0" y="0"/>
            <a:chExt cx="881145" cy="103992"/>
          </a:xfrm>
        </p:grpSpPr>
        <p:sp>
          <p:nvSpPr>
            <p:cNvPr name="Freeform 5" id="5"/>
            <p:cNvSpPr/>
            <p:nvPr/>
          </p:nvSpPr>
          <p:spPr>
            <a:xfrm flipH="false" flipV="false" rot="0">
              <a:off x="0" y="0"/>
              <a:ext cx="881145" cy="103992"/>
            </a:xfrm>
            <a:custGeom>
              <a:avLst/>
              <a:gdLst/>
              <a:ahLst/>
              <a:cxnLst/>
              <a:rect r="r" b="b" t="t" l="l"/>
              <a:pathLst>
                <a:path h="103992" w="881145">
                  <a:moveTo>
                    <a:pt x="51996" y="0"/>
                  </a:moveTo>
                  <a:lnTo>
                    <a:pt x="829149" y="0"/>
                  </a:lnTo>
                  <a:cubicBezTo>
                    <a:pt x="857865" y="0"/>
                    <a:pt x="881145" y="23279"/>
                    <a:pt x="881145" y="51996"/>
                  </a:cubicBezTo>
                  <a:lnTo>
                    <a:pt x="881145" y="51996"/>
                  </a:lnTo>
                  <a:cubicBezTo>
                    <a:pt x="881145" y="80712"/>
                    <a:pt x="857865" y="103992"/>
                    <a:pt x="829149"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881145"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599564" y="3083188"/>
            <a:ext cx="7698773" cy="5107055"/>
            <a:chOff x="0" y="0"/>
            <a:chExt cx="1046543" cy="694235"/>
          </a:xfrm>
        </p:grpSpPr>
        <p:sp>
          <p:nvSpPr>
            <p:cNvPr name="Freeform 18" id="18"/>
            <p:cNvSpPr/>
            <p:nvPr/>
          </p:nvSpPr>
          <p:spPr>
            <a:xfrm flipH="false" flipV="false" rot="0">
              <a:off x="0" y="0"/>
              <a:ext cx="1046543" cy="694235"/>
            </a:xfrm>
            <a:custGeom>
              <a:avLst/>
              <a:gdLst/>
              <a:ahLst/>
              <a:cxnLst/>
              <a:rect r="r" b="b" t="t" l="l"/>
              <a:pathLst>
                <a:path h="694235" w="1046543">
                  <a:moveTo>
                    <a:pt x="0" y="0"/>
                  </a:moveTo>
                  <a:lnTo>
                    <a:pt x="1046543" y="0"/>
                  </a:lnTo>
                  <a:lnTo>
                    <a:pt x="1046543" y="694235"/>
                  </a:lnTo>
                  <a:lnTo>
                    <a:pt x="0" y="694235"/>
                  </a:lnTo>
                  <a:close/>
                </a:path>
              </a:pathLst>
            </a:custGeom>
            <a:blipFill>
              <a:blip r:embed="rId4"/>
              <a:stretch>
                <a:fillRect l="-467" t="0" r="-467" b="0"/>
              </a:stretch>
            </a:blipFill>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8977422" y="2216291"/>
            <a:ext cx="8017368" cy="57722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-Lưu trữ chi tiết hồ sơ tài xế, kiểm soát tình trạng làm việc và bằng lái.</a:t>
            </a:r>
          </a:p>
          <a:p>
            <a:pPr algn="just">
              <a:lnSpc>
                <a:spcPts val="5767"/>
              </a:lnSpc>
            </a:pPr>
          </a:p>
          <a:p>
            <a:pPr algn="just">
              <a:lnSpc>
                <a:spcPts val="5767"/>
              </a:lnSpc>
            </a:pPr>
            <a:r>
              <a:rPr lang="en-US" sz="4119">
                <a:solidFill>
                  <a:srgbClr val="0A0A0A"/>
                </a:solidFill>
                <a:latin typeface="Helvetica World"/>
                <a:ea typeface="Helvetica World"/>
                <a:cs typeface="Helvetica World"/>
                <a:sym typeface="Helvetica World"/>
              </a:rPr>
              <a:t>-Quản</a:t>
            </a:r>
            <a:r>
              <a:rPr lang="en-US" sz="4119">
                <a:solidFill>
                  <a:srgbClr val="0A0A0A"/>
                </a:solidFill>
                <a:latin typeface="Helvetica World"/>
                <a:ea typeface="Helvetica World"/>
                <a:cs typeface="Helvetica World"/>
                <a:sym typeface="Helvetica World"/>
              </a:rPr>
              <a:t> lý thông tin cá nhân tài xế.</a:t>
            </a:r>
          </a:p>
          <a:p>
            <a:pPr algn="just">
              <a:lnSpc>
                <a:spcPts val="5767"/>
              </a:lnSpc>
            </a:pPr>
            <a:r>
              <a:rPr lang="en-US" sz="4119">
                <a:solidFill>
                  <a:srgbClr val="0A0A0A"/>
                </a:solidFill>
                <a:latin typeface="Helvetica World"/>
                <a:ea typeface="Helvetica World"/>
                <a:cs typeface="Helvetica World"/>
                <a:sym typeface="Helvetica World"/>
              </a:rPr>
              <a:t>-Lưu</a:t>
            </a:r>
            <a:r>
              <a:rPr lang="en-US" sz="4119">
                <a:solidFill>
                  <a:srgbClr val="0A0A0A"/>
                </a:solidFill>
                <a:latin typeface="Helvetica World"/>
                <a:ea typeface="Helvetica World"/>
                <a:cs typeface="Helvetica World"/>
                <a:sym typeface="Helvetica World"/>
              </a:rPr>
              <a:t> số GPLX theo hạng: B1, B2, C, FC,…</a:t>
            </a:r>
          </a:p>
          <a:p>
            <a:pPr algn="just">
              <a:lnSpc>
                <a:spcPts val="5767"/>
              </a:lnSpc>
            </a:pPr>
            <a:r>
              <a:rPr lang="en-US" sz="4119">
                <a:solidFill>
                  <a:srgbClr val="0A0A0A"/>
                </a:solidFill>
                <a:latin typeface="Helvetica World"/>
                <a:ea typeface="Helvetica World"/>
                <a:cs typeface="Helvetica World"/>
                <a:sym typeface="Helvetica World"/>
              </a:rPr>
              <a:t>-</a:t>
            </a:r>
            <a:r>
              <a:rPr lang="en-US" sz="4119">
                <a:solidFill>
                  <a:srgbClr val="0A0A0A"/>
                </a:solidFill>
                <a:latin typeface="Helvetica World"/>
                <a:ea typeface="Helvetica World"/>
                <a:cs typeface="Helvetica World"/>
                <a:sym typeface="Helvetica World"/>
              </a:rPr>
              <a:t>Hồ sơ vi phạm và đánh giá tài xế.</a:t>
            </a:r>
          </a:p>
        </p:txBody>
      </p:sp>
      <p:grpSp>
        <p:nvGrpSpPr>
          <p:cNvPr name="Group 21" id="21"/>
          <p:cNvGrpSpPr/>
          <p:nvPr/>
        </p:nvGrpSpPr>
        <p:grpSpPr>
          <a:xfrm rot="0">
            <a:off x="1028700" y="1879465"/>
            <a:ext cx="5316350" cy="582164"/>
            <a:chOff x="0" y="0"/>
            <a:chExt cx="7088466" cy="776219"/>
          </a:xfrm>
        </p:grpSpPr>
        <p:grpSp>
          <p:nvGrpSpPr>
            <p:cNvPr name="Group 22" id="22"/>
            <p:cNvGrpSpPr/>
            <p:nvPr/>
          </p:nvGrpSpPr>
          <p:grpSpPr>
            <a:xfrm rot="0">
              <a:off x="0" y="0"/>
              <a:ext cx="7088466" cy="776219"/>
              <a:chOff x="0" y="0"/>
              <a:chExt cx="1094446" cy="119847"/>
            </a:xfrm>
          </p:grpSpPr>
          <p:sp>
            <p:nvSpPr>
              <p:cNvPr name="Freeform 23" id="23"/>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24" id="24"/>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73944" y="55064"/>
              <a:ext cx="6340578" cy="612703"/>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Giao diện quản lý tài xế</a:t>
              </a:r>
            </a:p>
          </p:txBody>
        </p:sp>
      </p:grpSp>
    </p:spTree>
  </p:cSld>
  <p:clrMapOvr>
    <a:masterClrMapping/>
  </p:clrMapOvr>
  <p:transition spd="fast">
    <p:cover dir="rd"/>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8612261" y="698964"/>
            <a:ext cx="3345597" cy="394844"/>
            <a:chOff x="0" y="0"/>
            <a:chExt cx="881145" cy="103992"/>
          </a:xfrm>
        </p:grpSpPr>
        <p:sp>
          <p:nvSpPr>
            <p:cNvPr name="Freeform 5" id="5"/>
            <p:cNvSpPr/>
            <p:nvPr/>
          </p:nvSpPr>
          <p:spPr>
            <a:xfrm flipH="false" flipV="false" rot="0">
              <a:off x="0" y="0"/>
              <a:ext cx="881145" cy="103992"/>
            </a:xfrm>
            <a:custGeom>
              <a:avLst/>
              <a:gdLst/>
              <a:ahLst/>
              <a:cxnLst/>
              <a:rect r="r" b="b" t="t" l="l"/>
              <a:pathLst>
                <a:path h="103992" w="881145">
                  <a:moveTo>
                    <a:pt x="51996" y="0"/>
                  </a:moveTo>
                  <a:lnTo>
                    <a:pt x="829149" y="0"/>
                  </a:lnTo>
                  <a:cubicBezTo>
                    <a:pt x="857865" y="0"/>
                    <a:pt x="881145" y="23279"/>
                    <a:pt x="881145" y="51996"/>
                  </a:cubicBezTo>
                  <a:lnTo>
                    <a:pt x="881145" y="51996"/>
                  </a:lnTo>
                  <a:cubicBezTo>
                    <a:pt x="881145" y="80712"/>
                    <a:pt x="857865" y="103992"/>
                    <a:pt x="829149"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881145"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1028700" y="1879465"/>
            <a:ext cx="5316350" cy="582164"/>
            <a:chOff x="0" y="0"/>
            <a:chExt cx="1094446" cy="119847"/>
          </a:xfrm>
        </p:grpSpPr>
        <p:sp>
          <p:nvSpPr>
            <p:cNvPr name="Freeform 18" id="18"/>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19" id="19"/>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510361" y="3328404"/>
            <a:ext cx="8101900" cy="4636968"/>
            <a:chOff x="0" y="0"/>
            <a:chExt cx="1212995" cy="694235"/>
          </a:xfrm>
        </p:grpSpPr>
        <p:sp>
          <p:nvSpPr>
            <p:cNvPr name="Freeform 21" id="21"/>
            <p:cNvSpPr/>
            <p:nvPr/>
          </p:nvSpPr>
          <p:spPr>
            <a:xfrm flipH="false" flipV="false" rot="0">
              <a:off x="0" y="0"/>
              <a:ext cx="1212995" cy="694235"/>
            </a:xfrm>
            <a:custGeom>
              <a:avLst/>
              <a:gdLst/>
              <a:ahLst/>
              <a:cxnLst/>
              <a:rect r="r" b="b" t="t" l="l"/>
              <a:pathLst>
                <a:path h="694235" w="1212995">
                  <a:moveTo>
                    <a:pt x="0" y="0"/>
                  </a:moveTo>
                  <a:lnTo>
                    <a:pt x="1212995" y="0"/>
                  </a:lnTo>
                  <a:lnTo>
                    <a:pt x="1212995" y="694235"/>
                  </a:lnTo>
                  <a:lnTo>
                    <a:pt x="0" y="694235"/>
                  </a:lnTo>
                  <a:close/>
                </a:path>
              </a:pathLst>
            </a:custGeom>
            <a:blipFill>
              <a:blip r:embed="rId4"/>
              <a:stretch>
                <a:fillRect l="-608" t="0" r="-608" b="0"/>
              </a:stretch>
            </a:blipFill>
          </p:spPr>
        </p:sp>
      </p:grpSp>
      <p:sp>
        <p:nvSpPr>
          <p:cNvPr name="TextBox 22" id="22"/>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3" id="23"/>
          <p:cNvSpPr txBox="true"/>
          <p:nvPr/>
        </p:nvSpPr>
        <p:spPr>
          <a:xfrm rot="0">
            <a:off x="8977422" y="4498651"/>
            <a:ext cx="7361394" cy="43244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-Chọn xe + tài xế phù hợp với chuyến đi.</a:t>
            </a:r>
          </a:p>
          <a:p>
            <a:pPr algn="just">
              <a:lnSpc>
                <a:spcPts val="5767"/>
              </a:lnSpc>
            </a:pPr>
            <a:r>
              <a:rPr lang="en-US" sz="4119">
                <a:solidFill>
                  <a:srgbClr val="0A0A0A"/>
                </a:solidFill>
                <a:latin typeface="Helvetica World"/>
                <a:ea typeface="Helvetica World"/>
                <a:cs typeface="Helvetica World"/>
                <a:sym typeface="Helvetica World"/>
              </a:rPr>
              <a:t>-</a:t>
            </a:r>
            <a:r>
              <a:rPr lang="en-US" sz="4119">
                <a:solidFill>
                  <a:srgbClr val="0A0A0A"/>
                </a:solidFill>
                <a:latin typeface="Helvetica World"/>
                <a:ea typeface="Helvetica World"/>
                <a:cs typeface="Helvetica World"/>
                <a:sym typeface="Helvetica World"/>
              </a:rPr>
              <a:t>Tránh trùng lịch hoặc xe đang b</a:t>
            </a:r>
            <a:r>
              <a:rPr lang="en-US" sz="4119">
                <a:solidFill>
                  <a:srgbClr val="0A0A0A"/>
                </a:solidFill>
                <a:latin typeface="Helvetica World"/>
                <a:ea typeface="Helvetica World"/>
                <a:cs typeface="Helvetica World"/>
                <a:sym typeface="Helvetica World"/>
              </a:rPr>
              <a:t>ảo</a:t>
            </a:r>
            <a:r>
              <a:rPr lang="en-US" sz="4119">
                <a:solidFill>
                  <a:srgbClr val="0A0A0A"/>
                </a:solidFill>
                <a:latin typeface="Helvetica World"/>
                <a:ea typeface="Helvetica World"/>
                <a:cs typeface="Helvetica World"/>
                <a:sym typeface="Helvetica World"/>
              </a:rPr>
              <a:t> dưỡng.</a:t>
            </a:r>
          </a:p>
          <a:p>
            <a:pPr algn="just">
              <a:lnSpc>
                <a:spcPts val="5767"/>
              </a:lnSpc>
            </a:pPr>
            <a:r>
              <a:rPr lang="en-US" sz="4119">
                <a:solidFill>
                  <a:srgbClr val="0A0A0A"/>
                </a:solidFill>
                <a:latin typeface="Helvetica World"/>
                <a:ea typeface="Helvetica World"/>
                <a:cs typeface="Helvetica World"/>
                <a:sym typeface="Helvetica World"/>
              </a:rPr>
              <a:t>-Lưu</a:t>
            </a:r>
            <a:r>
              <a:rPr lang="en-US" sz="4119">
                <a:solidFill>
                  <a:srgbClr val="0A0A0A"/>
                </a:solidFill>
                <a:latin typeface="Helvetica World"/>
                <a:ea typeface="Helvetica World"/>
                <a:cs typeface="Helvetica World"/>
                <a:sym typeface="Helvetica World"/>
              </a:rPr>
              <a:t> lịch sử phân công để tra cứu nhanh.</a:t>
            </a:r>
          </a:p>
        </p:txBody>
      </p:sp>
      <p:sp>
        <p:nvSpPr>
          <p:cNvPr name="TextBox 24" id="24"/>
          <p:cNvSpPr txBox="true"/>
          <p:nvPr/>
        </p:nvSpPr>
        <p:spPr>
          <a:xfrm rot="0">
            <a:off x="1309158" y="1908857"/>
            <a:ext cx="4755433" cy="471433"/>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Giao diện Phân công Xe</a:t>
            </a:r>
          </a:p>
        </p:txBody>
      </p:sp>
      <p:sp>
        <p:nvSpPr>
          <p:cNvPr name="TextBox 25" id="25"/>
          <p:cNvSpPr txBox="true"/>
          <p:nvPr/>
        </p:nvSpPr>
        <p:spPr>
          <a:xfrm rot="0">
            <a:off x="8977422" y="2163840"/>
            <a:ext cx="7361394" cy="14288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-Lập kế hoạch điề</a:t>
            </a:r>
            <a:r>
              <a:rPr lang="en-US" sz="4119">
                <a:solidFill>
                  <a:srgbClr val="0A0A0A"/>
                </a:solidFill>
                <a:latin typeface="Helvetica World"/>
                <a:ea typeface="Helvetica World"/>
                <a:cs typeface="Helvetica World"/>
                <a:sym typeface="Helvetica World"/>
              </a:rPr>
              <a:t>u</a:t>
            </a:r>
            <a:r>
              <a:rPr lang="en-US" sz="4119">
                <a:solidFill>
                  <a:srgbClr val="0A0A0A"/>
                </a:solidFill>
                <a:latin typeface="Helvetica World"/>
                <a:ea typeface="Helvetica World"/>
                <a:cs typeface="Helvetica World"/>
                <a:sym typeface="Helvetica World"/>
              </a:rPr>
              <a:t> phối xe – tài xế theo lịch trình.</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8612261" y="698964"/>
            <a:ext cx="3345597" cy="394844"/>
            <a:chOff x="0" y="0"/>
            <a:chExt cx="881145" cy="103992"/>
          </a:xfrm>
        </p:grpSpPr>
        <p:sp>
          <p:nvSpPr>
            <p:cNvPr name="Freeform 5" id="5"/>
            <p:cNvSpPr/>
            <p:nvPr/>
          </p:nvSpPr>
          <p:spPr>
            <a:xfrm flipH="false" flipV="false" rot="0">
              <a:off x="0" y="0"/>
              <a:ext cx="881145" cy="103992"/>
            </a:xfrm>
            <a:custGeom>
              <a:avLst/>
              <a:gdLst/>
              <a:ahLst/>
              <a:cxnLst/>
              <a:rect r="r" b="b" t="t" l="l"/>
              <a:pathLst>
                <a:path h="103992" w="881145">
                  <a:moveTo>
                    <a:pt x="51996" y="0"/>
                  </a:moveTo>
                  <a:lnTo>
                    <a:pt x="829149" y="0"/>
                  </a:lnTo>
                  <a:cubicBezTo>
                    <a:pt x="857865" y="0"/>
                    <a:pt x="881145" y="23279"/>
                    <a:pt x="881145" y="51996"/>
                  </a:cubicBezTo>
                  <a:lnTo>
                    <a:pt x="881145" y="51996"/>
                  </a:lnTo>
                  <a:cubicBezTo>
                    <a:pt x="881145" y="80712"/>
                    <a:pt x="857865" y="103992"/>
                    <a:pt x="829149"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881145"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510361" y="3156954"/>
            <a:ext cx="8917341" cy="5275120"/>
            <a:chOff x="0" y="0"/>
            <a:chExt cx="1212995" cy="717556"/>
          </a:xfrm>
        </p:grpSpPr>
        <p:sp>
          <p:nvSpPr>
            <p:cNvPr name="Freeform 18" id="18"/>
            <p:cNvSpPr/>
            <p:nvPr/>
          </p:nvSpPr>
          <p:spPr>
            <a:xfrm flipH="false" flipV="false" rot="0">
              <a:off x="0" y="0"/>
              <a:ext cx="1212995" cy="717556"/>
            </a:xfrm>
            <a:custGeom>
              <a:avLst/>
              <a:gdLst/>
              <a:ahLst/>
              <a:cxnLst/>
              <a:rect r="r" b="b" t="t" l="l"/>
              <a:pathLst>
                <a:path h="717556" w="1212995">
                  <a:moveTo>
                    <a:pt x="0" y="0"/>
                  </a:moveTo>
                  <a:lnTo>
                    <a:pt x="1212995" y="0"/>
                  </a:lnTo>
                  <a:lnTo>
                    <a:pt x="1212995" y="717556"/>
                  </a:lnTo>
                  <a:lnTo>
                    <a:pt x="0" y="717556"/>
                  </a:lnTo>
                  <a:close/>
                </a:path>
              </a:pathLst>
            </a:custGeom>
            <a:blipFill>
              <a:blip r:embed="rId4"/>
              <a:stretch>
                <a:fillRect l="0" t="-713" r="0" b="-713"/>
              </a:stretch>
            </a:blipFill>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9897906" y="4107597"/>
            <a:ext cx="7361394" cy="43244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-Lưu ngày đăng kiểm gần nhất &amp; hạn tiếp theo.</a:t>
            </a:r>
          </a:p>
          <a:p>
            <a:pPr algn="just">
              <a:lnSpc>
                <a:spcPts val="5767"/>
              </a:lnSpc>
            </a:pPr>
            <a:r>
              <a:rPr lang="en-US" sz="4119">
                <a:solidFill>
                  <a:srgbClr val="0A0A0A"/>
                </a:solidFill>
                <a:latin typeface="Helvetica World"/>
                <a:ea typeface="Helvetica World"/>
                <a:cs typeface="Helvetica World"/>
                <a:sym typeface="Helvetica World"/>
              </a:rPr>
              <a:t>-</a:t>
            </a:r>
            <a:r>
              <a:rPr lang="en-US" sz="4119">
                <a:solidFill>
                  <a:srgbClr val="0A0A0A"/>
                </a:solidFill>
                <a:latin typeface="Helvetica World"/>
                <a:ea typeface="Helvetica World"/>
                <a:cs typeface="Helvetica World"/>
                <a:sym typeface="Helvetica World"/>
              </a:rPr>
              <a:t>Hệ thống cảnh báo xe sắp quá hạn.</a:t>
            </a:r>
          </a:p>
          <a:p>
            <a:pPr algn="just">
              <a:lnSpc>
                <a:spcPts val="5767"/>
              </a:lnSpc>
            </a:pPr>
            <a:r>
              <a:rPr lang="en-US" sz="4119">
                <a:solidFill>
                  <a:srgbClr val="0A0A0A"/>
                </a:solidFill>
                <a:latin typeface="Helvetica World"/>
                <a:ea typeface="Helvetica World"/>
                <a:cs typeface="Helvetica World"/>
                <a:sym typeface="Helvetica World"/>
              </a:rPr>
              <a:t>-Xuất</a:t>
            </a:r>
            <a:r>
              <a:rPr lang="en-US" sz="4119">
                <a:solidFill>
                  <a:srgbClr val="0A0A0A"/>
                </a:solidFill>
                <a:latin typeface="Helvetica World"/>
                <a:ea typeface="Helvetica World"/>
                <a:cs typeface="Helvetica World"/>
                <a:sym typeface="Helvetica World"/>
              </a:rPr>
              <a:t> danh sách báo cáo phục vụ kiểm tra.</a:t>
            </a:r>
          </a:p>
        </p:txBody>
      </p:sp>
      <p:grpSp>
        <p:nvGrpSpPr>
          <p:cNvPr name="Group 21" id="21"/>
          <p:cNvGrpSpPr/>
          <p:nvPr/>
        </p:nvGrpSpPr>
        <p:grpSpPr>
          <a:xfrm rot="0">
            <a:off x="1028700" y="1879465"/>
            <a:ext cx="5316350" cy="582164"/>
            <a:chOff x="0" y="0"/>
            <a:chExt cx="7088466" cy="776219"/>
          </a:xfrm>
        </p:grpSpPr>
        <p:grpSp>
          <p:nvGrpSpPr>
            <p:cNvPr name="Group 22" id="22"/>
            <p:cNvGrpSpPr/>
            <p:nvPr/>
          </p:nvGrpSpPr>
          <p:grpSpPr>
            <a:xfrm rot="0">
              <a:off x="0" y="0"/>
              <a:ext cx="7088466" cy="776219"/>
              <a:chOff x="0" y="0"/>
              <a:chExt cx="1094446" cy="119847"/>
            </a:xfrm>
          </p:grpSpPr>
          <p:sp>
            <p:nvSpPr>
              <p:cNvPr name="Freeform 23" id="23"/>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24" id="24"/>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73944" y="55064"/>
              <a:ext cx="6340578" cy="612703"/>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Giao diện đăng kiểm xe</a:t>
              </a:r>
            </a:p>
          </p:txBody>
        </p:sp>
      </p:grpSp>
      <p:sp>
        <p:nvSpPr>
          <p:cNvPr name="TextBox 26" id="26"/>
          <p:cNvSpPr txBox="true"/>
          <p:nvPr/>
        </p:nvSpPr>
        <p:spPr>
          <a:xfrm rot="0">
            <a:off x="9897906" y="2164370"/>
            <a:ext cx="7361394" cy="14288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-Theo dõi hạn đăng kiểm xe để đảm bảo tuân thủ pháp luật.</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8612261" y="698964"/>
            <a:ext cx="3345597" cy="394844"/>
            <a:chOff x="0" y="0"/>
            <a:chExt cx="881145" cy="103992"/>
          </a:xfrm>
        </p:grpSpPr>
        <p:sp>
          <p:nvSpPr>
            <p:cNvPr name="Freeform 5" id="5"/>
            <p:cNvSpPr/>
            <p:nvPr/>
          </p:nvSpPr>
          <p:spPr>
            <a:xfrm flipH="false" flipV="false" rot="0">
              <a:off x="0" y="0"/>
              <a:ext cx="881145" cy="103992"/>
            </a:xfrm>
            <a:custGeom>
              <a:avLst/>
              <a:gdLst/>
              <a:ahLst/>
              <a:cxnLst/>
              <a:rect r="r" b="b" t="t" l="l"/>
              <a:pathLst>
                <a:path h="103992" w="881145">
                  <a:moveTo>
                    <a:pt x="51996" y="0"/>
                  </a:moveTo>
                  <a:lnTo>
                    <a:pt x="829149" y="0"/>
                  </a:lnTo>
                  <a:cubicBezTo>
                    <a:pt x="857865" y="0"/>
                    <a:pt x="881145" y="23279"/>
                    <a:pt x="881145" y="51996"/>
                  </a:cubicBezTo>
                  <a:lnTo>
                    <a:pt x="881145" y="51996"/>
                  </a:lnTo>
                  <a:cubicBezTo>
                    <a:pt x="881145" y="80712"/>
                    <a:pt x="857865" y="103992"/>
                    <a:pt x="829149"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881145"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510361" y="3156954"/>
            <a:ext cx="8917341" cy="5275120"/>
            <a:chOff x="0" y="0"/>
            <a:chExt cx="1212995" cy="717556"/>
          </a:xfrm>
        </p:grpSpPr>
        <p:sp>
          <p:nvSpPr>
            <p:cNvPr name="Freeform 18" id="18"/>
            <p:cNvSpPr/>
            <p:nvPr/>
          </p:nvSpPr>
          <p:spPr>
            <a:xfrm flipH="false" flipV="false" rot="0">
              <a:off x="0" y="0"/>
              <a:ext cx="1212995" cy="717556"/>
            </a:xfrm>
            <a:custGeom>
              <a:avLst/>
              <a:gdLst/>
              <a:ahLst/>
              <a:cxnLst/>
              <a:rect r="r" b="b" t="t" l="l"/>
              <a:pathLst>
                <a:path h="717556" w="1212995">
                  <a:moveTo>
                    <a:pt x="0" y="0"/>
                  </a:moveTo>
                  <a:lnTo>
                    <a:pt x="1212995" y="0"/>
                  </a:lnTo>
                  <a:lnTo>
                    <a:pt x="1212995" y="717556"/>
                  </a:lnTo>
                  <a:lnTo>
                    <a:pt x="0" y="717556"/>
                  </a:lnTo>
                  <a:close/>
                </a:path>
              </a:pathLst>
            </a:custGeom>
            <a:blipFill>
              <a:blip r:embed="rId4"/>
              <a:stretch>
                <a:fillRect l="-54" t="0" r="-54" b="0"/>
              </a:stretch>
            </a:blipFill>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9897906" y="4831497"/>
            <a:ext cx="7361394" cy="36005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-Ghi nhận ngày bảo dưỡng, hạng mục sửa chữa.</a:t>
            </a:r>
          </a:p>
          <a:p>
            <a:pPr algn="just">
              <a:lnSpc>
                <a:spcPts val="5767"/>
              </a:lnSpc>
            </a:pPr>
            <a:r>
              <a:rPr lang="en-US" sz="4119">
                <a:solidFill>
                  <a:srgbClr val="0A0A0A"/>
                </a:solidFill>
                <a:latin typeface="Helvetica World"/>
                <a:ea typeface="Helvetica World"/>
                <a:cs typeface="Helvetica World"/>
                <a:sym typeface="Helvetica World"/>
              </a:rPr>
              <a:t>-Qu</a:t>
            </a:r>
            <a:r>
              <a:rPr lang="en-US" sz="4119">
                <a:solidFill>
                  <a:srgbClr val="0A0A0A"/>
                </a:solidFill>
                <a:latin typeface="Helvetica World"/>
                <a:ea typeface="Helvetica World"/>
                <a:cs typeface="Helvetica World"/>
                <a:sym typeface="Helvetica World"/>
              </a:rPr>
              <a:t>ản lý chi phí bảo trì.</a:t>
            </a:r>
          </a:p>
          <a:p>
            <a:pPr algn="just">
              <a:lnSpc>
                <a:spcPts val="5767"/>
              </a:lnSpc>
            </a:pPr>
            <a:r>
              <a:rPr lang="en-US" sz="4119">
                <a:solidFill>
                  <a:srgbClr val="0A0A0A"/>
                </a:solidFill>
                <a:latin typeface="Helvetica World"/>
                <a:ea typeface="Helvetica World"/>
                <a:cs typeface="Helvetica World"/>
                <a:sym typeface="Helvetica World"/>
              </a:rPr>
              <a:t>-</a:t>
            </a:r>
            <a:r>
              <a:rPr lang="en-US" sz="4119">
                <a:solidFill>
                  <a:srgbClr val="0A0A0A"/>
                </a:solidFill>
                <a:latin typeface="Helvetica World"/>
                <a:ea typeface="Helvetica World"/>
                <a:cs typeface="Helvetica World"/>
                <a:sym typeface="Helvetica World"/>
              </a:rPr>
              <a:t>Lịch nhắc bảo dưỡng định kỳ.</a:t>
            </a:r>
          </a:p>
          <a:p>
            <a:pPr algn="just">
              <a:lnSpc>
                <a:spcPts val="5767"/>
              </a:lnSpc>
            </a:pPr>
          </a:p>
        </p:txBody>
      </p:sp>
      <p:grpSp>
        <p:nvGrpSpPr>
          <p:cNvPr name="Group 21" id="21"/>
          <p:cNvGrpSpPr/>
          <p:nvPr/>
        </p:nvGrpSpPr>
        <p:grpSpPr>
          <a:xfrm rot="0">
            <a:off x="1028700" y="1879465"/>
            <a:ext cx="5316350" cy="582164"/>
            <a:chOff x="0" y="0"/>
            <a:chExt cx="7088466" cy="776219"/>
          </a:xfrm>
        </p:grpSpPr>
        <p:grpSp>
          <p:nvGrpSpPr>
            <p:cNvPr name="Group 22" id="22"/>
            <p:cNvGrpSpPr/>
            <p:nvPr/>
          </p:nvGrpSpPr>
          <p:grpSpPr>
            <a:xfrm rot="0">
              <a:off x="0" y="0"/>
              <a:ext cx="7088466" cy="776219"/>
              <a:chOff x="0" y="0"/>
              <a:chExt cx="1094446" cy="119847"/>
            </a:xfrm>
          </p:grpSpPr>
          <p:sp>
            <p:nvSpPr>
              <p:cNvPr name="Freeform 23" id="23"/>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24" id="24"/>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73944" y="55064"/>
              <a:ext cx="6340578" cy="612703"/>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Giao diện bảo dưỡng</a:t>
              </a:r>
            </a:p>
          </p:txBody>
        </p:sp>
      </p:grpSp>
      <p:sp>
        <p:nvSpPr>
          <p:cNvPr name="TextBox 26" id="26"/>
          <p:cNvSpPr txBox="true"/>
          <p:nvPr/>
        </p:nvSpPr>
        <p:spPr>
          <a:xfrm rot="0">
            <a:off x="9897906" y="2164370"/>
            <a:ext cx="7361394" cy="21527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-Đảm bảo xe được bảo dưỡng đầy đủ để vận hành an toàn và bền bỉ.</a:t>
            </a:r>
          </a:p>
        </p:txBody>
      </p:sp>
    </p:spTree>
  </p:cSld>
  <p:clrMapOvr>
    <a:masterClrMapping/>
  </p:clrMapOvr>
  <p:transition spd="slow">
    <p:cover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8612261" y="698964"/>
            <a:ext cx="3345597" cy="394844"/>
            <a:chOff x="0" y="0"/>
            <a:chExt cx="881145" cy="103992"/>
          </a:xfrm>
        </p:grpSpPr>
        <p:sp>
          <p:nvSpPr>
            <p:cNvPr name="Freeform 5" id="5"/>
            <p:cNvSpPr/>
            <p:nvPr/>
          </p:nvSpPr>
          <p:spPr>
            <a:xfrm flipH="false" flipV="false" rot="0">
              <a:off x="0" y="0"/>
              <a:ext cx="881145" cy="103992"/>
            </a:xfrm>
            <a:custGeom>
              <a:avLst/>
              <a:gdLst/>
              <a:ahLst/>
              <a:cxnLst/>
              <a:rect r="r" b="b" t="t" l="l"/>
              <a:pathLst>
                <a:path h="103992" w="881145">
                  <a:moveTo>
                    <a:pt x="51996" y="0"/>
                  </a:moveTo>
                  <a:lnTo>
                    <a:pt x="829149" y="0"/>
                  </a:lnTo>
                  <a:cubicBezTo>
                    <a:pt x="857865" y="0"/>
                    <a:pt x="881145" y="23279"/>
                    <a:pt x="881145" y="51996"/>
                  </a:cubicBezTo>
                  <a:lnTo>
                    <a:pt x="881145" y="51996"/>
                  </a:lnTo>
                  <a:cubicBezTo>
                    <a:pt x="881145" y="80712"/>
                    <a:pt x="857865" y="103992"/>
                    <a:pt x="829149"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881145"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510361" y="3156954"/>
            <a:ext cx="8917341" cy="5275120"/>
            <a:chOff x="0" y="0"/>
            <a:chExt cx="1212995" cy="717556"/>
          </a:xfrm>
        </p:grpSpPr>
        <p:sp>
          <p:nvSpPr>
            <p:cNvPr name="Freeform 18" id="18"/>
            <p:cNvSpPr/>
            <p:nvPr/>
          </p:nvSpPr>
          <p:spPr>
            <a:xfrm flipH="false" flipV="false" rot="0">
              <a:off x="0" y="0"/>
              <a:ext cx="1212995" cy="717556"/>
            </a:xfrm>
            <a:custGeom>
              <a:avLst/>
              <a:gdLst/>
              <a:ahLst/>
              <a:cxnLst/>
              <a:rect r="r" b="b" t="t" l="l"/>
              <a:pathLst>
                <a:path h="717556" w="1212995">
                  <a:moveTo>
                    <a:pt x="0" y="0"/>
                  </a:moveTo>
                  <a:lnTo>
                    <a:pt x="1212995" y="0"/>
                  </a:lnTo>
                  <a:lnTo>
                    <a:pt x="1212995" y="717556"/>
                  </a:lnTo>
                  <a:lnTo>
                    <a:pt x="0" y="717556"/>
                  </a:lnTo>
                  <a:close/>
                </a:path>
              </a:pathLst>
            </a:custGeom>
            <a:blipFill>
              <a:blip r:embed="rId4"/>
              <a:stretch>
                <a:fillRect l="-54" t="0" r="-54" b="0"/>
              </a:stretch>
            </a:blipFill>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9897906" y="4107861"/>
            <a:ext cx="7361394" cy="43244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-Lưu biên bản vi phạm, mức độ lỗi, tiền phạt.</a:t>
            </a:r>
          </a:p>
          <a:p>
            <a:pPr algn="just">
              <a:lnSpc>
                <a:spcPts val="5767"/>
              </a:lnSpc>
            </a:pPr>
            <a:r>
              <a:rPr lang="en-US" sz="4119">
                <a:solidFill>
                  <a:srgbClr val="0A0A0A"/>
                </a:solidFill>
                <a:latin typeface="Helvetica World"/>
                <a:ea typeface="Helvetica World"/>
                <a:cs typeface="Helvetica World"/>
                <a:sym typeface="Helvetica World"/>
              </a:rPr>
              <a:t>-</a:t>
            </a:r>
            <a:r>
              <a:rPr lang="en-US" sz="4119">
                <a:solidFill>
                  <a:srgbClr val="0A0A0A"/>
                </a:solidFill>
                <a:latin typeface="Helvetica World"/>
                <a:ea typeface="Helvetica World"/>
                <a:cs typeface="Helvetica World"/>
                <a:sym typeface="Helvetica World"/>
              </a:rPr>
              <a:t>Ghi nhận sự cố xe: lý do – ảnh hưởng – sửa chữa.</a:t>
            </a:r>
          </a:p>
          <a:p>
            <a:pPr algn="just">
              <a:lnSpc>
                <a:spcPts val="5767"/>
              </a:lnSpc>
            </a:pPr>
            <a:r>
              <a:rPr lang="en-US" sz="4119">
                <a:solidFill>
                  <a:srgbClr val="0A0A0A"/>
                </a:solidFill>
                <a:latin typeface="Helvetica World"/>
                <a:ea typeface="Helvetica World"/>
                <a:cs typeface="Helvetica World"/>
                <a:sym typeface="Helvetica World"/>
              </a:rPr>
              <a:t>-Tổ</a:t>
            </a:r>
            <a:r>
              <a:rPr lang="en-US" sz="4119">
                <a:solidFill>
                  <a:srgbClr val="0A0A0A"/>
                </a:solidFill>
                <a:latin typeface="Helvetica World"/>
                <a:ea typeface="Helvetica World"/>
                <a:cs typeface="Helvetica World"/>
                <a:sym typeface="Helvetica World"/>
              </a:rPr>
              <a:t>ng hợp báo cáo hỗ trợ quản lý nhân sự.</a:t>
            </a:r>
          </a:p>
        </p:txBody>
      </p:sp>
      <p:grpSp>
        <p:nvGrpSpPr>
          <p:cNvPr name="Group 21" id="21"/>
          <p:cNvGrpSpPr/>
          <p:nvPr/>
        </p:nvGrpSpPr>
        <p:grpSpPr>
          <a:xfrm rot="0">
            <a:off x="1028700" y="1879465"/>
            <a:ext cx="5316350" cy="582164"/>
            <a:chOff x="0" y="0"/>
            <a:chExt cx="7088466" cy="776219"/>
          </a:xfrm>
        </p:grpSpPr>
        <p:grpSp>
          <p:nvGrpSpPr>
            <p:cNvPr name="Group 22" id="22"/>
            <p:cNvGrpSpPr/>
            <p:nvPr/>
          </p:nvGrpSpPr>
          <p:grpSpPr>
            <a:xfrm rot="0">
              <a:off x="0" y="0"/>
              <a:ext cx="7088466" cy="776219"/>
              <a:chOff x="0" y="0"/>
              <a:chExt cx="1094446" cy="119847"/>
            </a:xfrm>
          </p:grpSpPr>
          <p:sp>
            <p:nvSpPr>
              <p:cNvPr name="Freeform 23" id="23"/>
              <p:cNvSpPr/>
              <p:nvPr/>
            </p:nvSpPr>
            <p:spPr>
              <a:xfrm flipH="false" flipV="false" rot="0">
                <a:off x="0" y="0"/>
                <a:ext cx="1094446" cy="119847"/>
              </a:xfrm>
              <a:custGeom>
                <a:avLst/>
                <a:gdLst/>
                <a:ahLst/>
                <a:cxnLst/>
                <a:rect r="r" b="b" t="t" l="l"/>
                <a:pathLst>
                  <a:path h="119847" w="1094446">
                    <a:moveTo>
                      <a:pt x="49512" y="0"/>
                    </a:moveTo>
                    <a:lnTo>
                      <a:pt x="1044934" y="0"/>
                    </a:lnTo>
                    <a:cubicBezTo>
                      <a:pt x="1058065" y="0"/>
                      <a:pt x="1070659" y="5216"/>
                      <a:pt x="1079945" y="14502"/>
                    </a:cubicBezTo>
                    <a:cubicBezTo>
                      <a:pt x="1089230" y="23787"/>
                      <a:pt x="1094446" y="36381"/>
                      <a:pt x="1094446" y="49512"/>
                    </a:cubicBezTo>
                    <a:lnTo>
                      <a:pt x="1094446" y="70334"/>
                    </a:lnTo>
                    <a:cubicBezTo>
                      <a:pt x="1094446" y="83466"/>
                      <a:pt x="1089230" y="96060"/>
                      <a:pt x="1079945" y="105345"/>
                    </a:cubicBezTo>
                    <a:cubicBezTo>
                      <a:pt x="1070659" y="114630"/>
                      <a:pt x="1058065" y="119847"/>
                      <a:pt x="1044934" y="119847"/>
                    </a:cubicBezTo>
                    <a:lnTo>
                      <a:pt x="49512" y="119847"/>
                    </a:lnTo>
                    <a:cubicBezTo>
                      <a:pt x="36381" y="119847"/>
                      <a:pt x="23787" y="114630"/>
                      <a:pt x="14502" y="105345"/>
                    </a:cubicBezTo>
                    <a:cubicBezTo>
                      <a:pt x="5216" y="96060"/>
                      <a:pt x="0" y="83466"/>
                      <a:pt x="0" y="70334"/>
                    </a:cubicBezTo>
                    <a:lnTo>
                      <a:pt x="0" y="49512"/>
                    </a:lnTo>
                    <a:cubicBezTo>
                      <a:pt x="0" y="36381"/>
                      <a:pt x="5216" y="23787"/>
                      <a:pt x="14502" y="14502"/>
                    </a:cubicBezTo>
                    <a:cubicBezTo>
                      <a:pt x="23787" y="5216"/>
                      <a:pt x="36381" y="0"/>
                      <a:pt x="49512" y="0"/>
                    </a:cubicBezTo>
                    <a:close/>
                  </a:path>
                </a:pathLst>
              </a:custGeom>
              <a:solidFill>
                <a:srgbClr val="0CC0DF"/>
              </a:solidFill>
              <a:ln w="9525" cap="rnd">
                <a:solidFill>
                  <a:srgbClr val="0A0A0A"/>
                </a:solidFill>
                <a:prstDash val="solid"/>
                <a:round/>
              </a:ln>
            </p:spPr>
          </p:sp>
          <p:sp>
            <p:nvSpPr>
              <p:cNvPr name="TextBox 24" id="24"/>
              <p:cNvSpPr txBox="true"/>
              <p:nvPr/>
            </p:nvSpPr>
            <p:spPr>
              <a:xfrm>
                <a:off x="0" y="-38100"/>
                <a:ext cx="1094446" cy="15794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73944" y="55064"/>
              <a:ext cx="6340578" cy="612703"/>
            </a:xfrm>
            <a:prstGeom prst="rect">
              <a:avLst/>
            </a:prstGeom>
          </p:spPr>
          <p:txBody>
            <a:bodyPr anchor="t" rtlCol="false" tIns="0" lIns="0" bIns="0" rIns="0">
              <a:spAutoFit/>
            </a:bodyPr>
            <a:lstStyle/>
            <a:p>
              <a:pPr algn="ctr">
                <a:lnSpc>
                  <a:spcPts val="3940"/>
                </a:lnSpc>
              </a:pPr>
              <a:r>
                <a:rPr lang="en-US" b="true" sz="2814">
                  <a:solidFill>
                    <a:srgbClr val="0A0A0A"/>
                  </a:solidFill>
                  <a:latin typeface="Quicksand Bold"/>
                  <a:ea typeface="Quicksand Bold"/>
                  <a:cs typeface="Quicksand Bold"/>
                  <a:sym typeface="Quicksand Bold"/>
                </a:rPr>
                <a:t>Giao diện Vi phạm sự cố</a:t>
              </a:r>
            </a:p>
          </p:txBody>
        </p:sp>
      </p:grpSp>
      <p:sp>
        <p:nvSpPr>
          <p:cNvPr name="TextBox 26" id="26"/>
          <p:cNvSpPr txBox="true"/>
          <p:nvPr/>
        </p:nvSpPr>
        <p:spPr>
          <a:xfrm rot="0">
            <a:off x="9897906" y="2164370"/>
            <a:ext cx="7361394" cy="14288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-Theo dõi hành vi vi phạm và sự cố để đánh giá hiệu suất tài xế.</a:t>
            </a:r>
          </a:p>
        </p:txBody>
      </p:sp>
    </p:spTree>
  </p:cSld>
  <p:clrMapOvr>
    <a:masterClrMapping/>
  </p:clrMapOvr>
  <p:transition spd="fast">
    <p:wipe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11936612" y="698210"/>
            <a:ext cx="2683671" cy="394844"/>
            <a:chOff x="0" y="0"/>
            <a:chExt cx="706810" cy="103992"/>
          </a:xfrm>
        </p:grpSpPr>
        <p:sp>
          <p:nvSpPr>
            <p:cNvPr name="Freeform 5" id="5"/>
            <p:cNvSpPr/>
            <p:nvPr/>
          </p:nvSpPr>
          <p:spPr>
            <a:xfrm flipH="false" flipV="false" rot="0">
              <a:off x="0" y="0"/>
              <a:ext cx="706810" cy="103992"/>
            </a:xfrm>
            <a:custGeom>
              <a:avLst/>
              <a:gdLst/>
              <a:ahLst/>
              <a:cxnLst/>
              <a:rect r="r" b="b" t="t" l="l"/>
              <a:pathLst>
                <a:path h="103992" w="706810">
                  <a:moveTo>
                    <a:pt x="51996" y="0"/>
                  </a:moveTo>
                  <a:lnTo>
                    <a:pt x="654814" y="0"/>
                  </a:lnTo>
                  <a:cubicBezTo>
                    <a:pt x="683531" y="0"/>
                    <a:pt x="706810" y="23279"/>
                    <a:pt x="706810" y="51996"/>
                  </a:cubicBezTo>
                  <a:lnTo>
                    <a:pt x="706810" y="51996"/>
                  </a:lnTo>
                  <a:cubicBezTo>
                    <a:pt x="706810" y="80712"/>
                    <a:pt x="683531" y="103992"/>
                    <a:pt x="654814"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706810"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sp>
        <p:nvSpPr>
          <p:cNvPr name="TextBox 17" id="17"/>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18" id="18"/>
          <p:cNvSpPr txBox="true"/>
          <p:nvPr/>
        </p:nvSpPr>
        <p:spPr>
          <a:xfrm rot="0">
            <a:off x="8843660" y="3911438"/>
            <a:ext cx="7361394" cy="21527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Sau quá trình nghiên cứu và phát triển, đồ án đã đạt được những kết quả quan trọng sau:</a:t>
            </a:r>
          </a:p>
        </p:txBody>
      </p:sp>
      <p:grpSp>
        <p:nvGrpSpPr>
          <p:cNvPr name="Group 19" id="19"/>
          <p:cNvGrpSpPr/>
          <p:nvPr/>
        </p:nvGrpSpPr>
        <p:grpSpPr>
          <a:xfrm rot="0">
            <a:off x="1028700" y="1676692"/>
            <a:ext cx="6937199" cy="693719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4"/>
              <a:stretch>
                <a:fillRect l="-19536" t="-6459" r="0" b="-42960"/>
              </a:stretch>
            </a:blipFill>
          </p:spPr>
        </p:sp>
      </p:grpSp>
    </p:spTree>
  </p:cSld>
  <p:clrMapOvr>
    <a:masterClrMapping/>
  </p:clrMapOvr>
  <p:transition spd="fast">
    <p:wipe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11936612" y="698210"/>
            <a:ext cx="2683671" cy="394844"/>
            <a:chOff x="0" y="0"/>
            <a:chExt cx="706810" cy="103992"/>
          </a:xfrm>
        </p:grpSpPr>
        <p:sp>
          <p:nvSpPr>
            <p:cNvPr name="Freeform 5" id="5"/>
            <p:cNvSpPr/>
            <p:nvPr/>
          </p:nvSpPr>
          <p:spPr>
            <a:xfrm flipH="false" flipV="false" rot="0">
              <a:off x="0" y="0"/>
              <a:ext cx="706810" cy="103992"/>
            </a:xfrm>
            <a:custGeom>
              <a:avLst/>
              <a:gdLst/>
              <a:ahLst/>
              <a:cxnLst/>
              <a:rect r="r" b="b" t="t" l="l"/>
              <a:pathLst>
                <a:path h="103992" w="706810">
                  <a:moveTo>
                    <a:pt x="51996" y="0"/>
                  </a:moveTo>
                  <a:lnTo>
                    <a:pt x="654814" y="0"/>
                  </a:lnTo>
                  <a:cubicBezTo>
                    <a:pt x="683531" y="0"/>
                    <a:pt x="706810" y="23279"/>
                    <a:pt x="706810" y="51996"/>
                  </a:cubicBezTo>
                  <a:lnTo>
                    <a:pt x="706810" y="51996"/>
                  </a:lnTo>
                  <a:cubicBezTo>
                    <a:pt x="706810" y="80712"/>
                    <a:pt x="683531" y="103992"/>
                    <a:pt x="654814"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706810"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1028700" y="1724007"/>
            <a:ext cx="5246370" cy="524637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4"/>
              <a:stretch>
                <a:fillRect l="-25136" t="0" r="-25136" b="0"/>
              </a:stretch>
            </a:blipFill>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8791654" y="3369800"/>
            <a:ext cx="7361394" cy="36005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Thứ nhất: Chúng tôi đã thành công trong việc tin học hóa toàn bộ quy trình, chuyển đổi từ quản lý thủ công sang quản lý dữ liệu tập trung và có cấu trúc.</a:t>
            </a:r>
          </a:p>
        </p:txBody>
      </p:sp>
      <p:grpSp>
        <p:nvGrpSpPr>
          <p:cNvPr name="Group 21" id="21"/>
          <p:cNvGrpSpPr/>
          <p:nvPr/>
        </p:nvGrpSpPr>
        <p:grpSpPr>
          <a:xfrm rot="0">
            <a:off x="3651885" y="5143500"/>
            <a:ext cx="3595171" cy="359517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5"/>
              <a:stretch>
                <a:fillRect l="0" t="-16666" r="0" b="-16666"/>
              </a:stretch>
            </a:blipFill>
          </p:spPr>
        </p:sp>
      </p:grpSp>
    </p:spTree>
  </p:cSld>
  <p:clrMapOvr>
    <a:masterClrMapping/>
  </p:clrMapOvr>
  <p:transition spd="fast">
    <p:push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11936612" y="698210"/>
            <a:ext cx="2683671" cy="394844"/>
            <a:chOff x="0" y="0"/>
            <a:chExt cx="706810" cy="103992"/>
          </a:xfrm>
        </p:grpSpPr>
        <p:sp>
          <p:nvSpPr>
            <p:cNvPr name="Freeform 5" id="5"/>
            <p:cNvSpPr/>
            <p:nvPr/>
          </p:nvSpPr>
          <p:spPr>
            <a:xfrm flipH="false" flipV="false" rot="0">
              <a:off x="0" y="0"/>
              <a:ext cx="706810" cy="103992"/>
            </a:xfrm>
            <a:custGeom>
              <a:avLst/>
              <a:gdLst/>
              <a:ahLst/>
              <a:cxnLst/>
              <a:rect r="r" b="b" t="t" l="l"/>
              <a:pathLst>
                <a:path h="103992" w="706810">
                  <a:moveTo>
                    <a:pt x="51996" y="0"/>
                  </a:moveTo>
                  <a:lnTo>
                    <a:pt x="654814" y="0"/>
                  </a:lnTo>
                  <a:cubicBezTo>
                    <a:pt x="683531" y="0"/>
                    <a:pt x="706810" y="23279"/>
                    <a:pt x="706810" y="51996"/>
                  </a:cubicBezTo>
                  <a:lnTo>
                    <a:pt x="706810" y="51996"/>
                  </a:lnTo>
                  <a:cubicBezTo>
                    <a:pt x="706810" y="80712"/>
                    <a:pt x="683531" y="103992"/>
                    <a:pt x="654814"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706810"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8822399" y="1728769"/>
            <a:ext cx="4947106" cy="494710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4"/>
              <a:stretch>
                <a:fillRect l="-16666" t="0" r="-16666" b="0"/>
              </a:stretch>
            </a:blipFill>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1418562" y="2938399"/>
            <a:ext cx="6477288" cy="43244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Thứ hai: Hệ thống đã tối ưu hóa các nghiệp vụ cốt lõi như Phân công, đồng thời đảm bảo kiểm soát chất lượng qua các module Bảo dưỡng và Đăng kiểm.</a:t>
            </a:r>
          </a:p>
        </p:txBody>
      </p:sp>
      <p:grpSp>
        <p:nvGrpSpPr>
          <p:cNvPr name="Group 21" id="21"/>
          <p:cNvGrpSpPr/>
          <p:nvPr/>
        </p:nvGrpSpPr>
        <p:grpSpPr>
          <a:xfrm rot="0">
            <a:off x="11936612" y="3611504"/>
            <a:ext cx="4809951" cy="480995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5"/>
              <a:stretch>
                <a:fillRect l="-38996" t="0" r="-38996" b="0"/>
              </a:stretch>
            </a:blipFill>
          </p:spPr>
        </p:sp>
      </p:gr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248380"/>
            <a:ext cx="16230600" cy="0"/>
          </a:xfrm>
          <a:prstGeom prst="line">
            <a:avLst/>
          </a:prstGeom>
          <a:ln cap="flat" w="19050">
            <a:solidFill>
              <a:srgbClr val="0A0A0A"/>
            </a:solidFill>
            <a:prstDash val="solid"/>
            <a:headEnd type="none" len="sm" w="sm"/>
            <a:tailEnd type="none" len="sm" w="sm"/>
          </a:ln>
        </p:spPr>
      </p:sp>
      <p:sp>
        <p:nvSpPr>
          <p:cNvPr name="AutoShape 3" id="3"/>
          <p:cNvSpPr/>
          <p:nvPr/>
        </p:nvSpPr>
        <p:spPr>
          <a:xfrm>
            <a:off x="1028700" y="9042203"/>
            <a:ext cx="16230600" cy="0"/>
          </a:xfrm>
          <a:prstGeom prst="line">
            <a:avLst/>
          </a:prstGeom>
          <a:ln cap="flat" w="19050">
            <a:solidFill>
              <a:srgbClr val="0A0A0A"/>
            </a:solidFill>
            <a:prstDash val="solid"/>
            <a:headEnd type="none" len="sm" w="sm"/>
            <a:tailEnd type="none" len="sm" w="sm"/>
          </a:ln>
        </p:spPr>
      </p:sp>
      <p:grpSp>
        <p:nvGrpSpPr>
          <p:cNvPr name="Group 4" id="4"/>
          <p:cNvGrpSpPr/>
          <p:nvPr/>
        </p:nvGrpSpPr>
        <p:grpSpPr>
          <a:xfrm rot="0">
            <a:off x="11936612" y="698210"/>
            <a:ext cx="2683671" cy="394844"/>
            <a:chOff x="0" y="0"/>
            <a:chExt cx="706810" cy="103992"/>
          </a:xfrm>
        </p:grpSpPr>
        <p:sp>
          <p:nvSpPr>
            <p:cNvPr name="Freeform 5" id="5"/>
            <p:cNvSpPr/>
            <p:nvPr/>
          </p:nvSpPr>
          <p:spPr>
            <a:xfrm flipH="false" flipV="false" rot="0">
              <a:off x="0" y="0"/>
              <a:ext cx="706810" cy="103992"/>
            </a:xfrm>
            <a:custGeom>
              <a:avLst/>
              <a:gdLst/>
              <a:ahLst/>
              <a:cxnLst/>
              <a:rect r="r" b="b" t="t" l="l"/>
              <a:pathLst>
                <a:path h="103992" w="706810">
                  <a:moveTo>
                    <a:pt x="51996" y="0"/>
                  </a:moveTo>
                  <a:lnTo>
                    <a:pt x="654814" y="0"/>
                  </a:lnTo>
                  <a:cubicBezTo>
                    <a:pt x="683531" y="0"/>
                    <a:pt x="706810" y="23279"/>
                    <a:pt x="706810" y="51996"/>
                  </a:cubicBezTo>
                  <a:lnTo>
                    <a:pt x="706810" y="51996"/>
                  </a:lnTo>
                  <a:cubicBezTo>
                    <a:pt x="706810" y="80712"/>
                    <a:pt x="683531" y="103992"/>
                    <a:pt x="654814" y="103992"/>
                  </a:cubicBezTo>
                  <a:lnTo>
                    <a:pt x="51996" y="103992"/>
                  </a:lnTo>
                  <a:cubicBezTo>
                    <a:pt x="23279" y="103992"/>
                    <a:pt x="0" y="80712"/>
                    <a:pt x="0" y="51996"/>
                  </a:cubicBezTo>
                  <a:lnTo>
                    <a:pt x="0" y="51996"/>
                  </a:lnTo>
                  <a:cubicBezTo>
                    <a:pt x="0" y="23279"/>
                    <a:pt x="23279" y="0"/>
                    <a:pt x="51996" y="0"/>
                  </a:cubicBezTo>
                  <a:close/>
                </a:path>
              </a:pathLst>
            </a:custGeom>
            <a:solidFill>
              <a:srgbClr val="D5CCC8"/>
            </a:solidFill>
          </p:spPr>
        </p:sp>
        <p:sp>
          <p:nvSpPr>
            <p:cNvPr name="TextBox 6" id="6"/>
            <p:cNvSpPr txBox="true"/>
            <p:nvPr/>
          </p:nvSpPr>
          <p:spPr>
            <a:xfrm>
              <a:off x="0" y="-38100"/>
              <a:ext cx="706810" cy="142092"/>
            </a:xfrm>
            <a:prstGeom prst="rect">
              <a:avLst/>
            </a:prstGeom>
          </p:spPr>
          <p:txBody>
            <a:bodyPr anchor="ctr" rtlCol="false" tIns="50800" lIns="50800" bIns="50800" rIns="50800"/>
            <a:lstStyle/>
            <a:p>
              <a:pPr algn="ctr">
                <a:lnSpc>
                  <a:spcPts val="3080"/>
                </a:lnSpc>
              </a:pPr>
            </a:p>
          </p:txBody>
        </p:sp>
      </p:grpSp>
      <p:grpSp>
        <p:nvGrpSpPr>
          <p:cNvPr name="Group 7" id="7"/>
          <p:cNvGrpSpPr/>
          <p:nvPr/>
        </p:nvGrpSpPr>
        <p:grpSpPr>
          <a:xfrm rot="0">
            <a:off x="1028700" y="633856"/>
            <a:ext cx="16263480" cy="394844"/>
            <a:chOff x="0" y="0"/>
            <a:chExt cx="21684640" cy="526458"/>
          </a:xfrm>
        </p:grpSpPr>
        <p:grpSp>
          <p:nvGrpSpPr>
            <p:cNvPr name="Group 8" id="8"/>
            <p:cNvGrpSpPr/>
            <p:nvPr/>
          </p:nvGrpSpPr>
          <p:grpSpPr>
            <a:xfrm rot="0">
              <a:off x="18520735" y="0"/>
              <a:ext cx="3163905" cy="526409"/>
              <a:chOff x="0" y="0"/>
              <a:chExt cx="624969" cy="103982"/>
            </a:xfrm>
          </p:grpSpPr>
          <p:sp>
            <p:nvSpPr>
              <p:cNvPr name="Freeform 9" id="9"/>
              <p:cNvSpPr/>
              <p:nvPr/>
            </p:nvSpPr>
            <p:spPr>
              <a:xfrm flipH="false" flipV="false" rot="0">
                <a:off x="0" y="0"/>
                <a:ext cx="624969" cy="103982"/>
              </a:xfrm>
              <a:custGeom>
                <a:avLst/>
                <a:gdLst/>
                <a:ahLst/>
                <a:cxnLst/>
                <a:rect r="r" b="b" t="t" l="l"/>
                <a:pathLst>
                  <a:path h="103982" w="624969">
                    <a:moveTo>
                      <a:pt x="51991" y="0"/>
                    </a:moveTo>
                    <a:lnTo>
                      <a:pt x="572978" y="0"/>
                    </a:lnTo>
                    <a:cubicBezTo>
                      <a:pt x="586767" y="0"/>
                      <a:pt x="599991" y="5478"/>
                      <a:pt x="609741" y="15228"/>
                    </a:cubicBezTo>
                    <a:cubicBezTo>
                      <a:pt x="619491" y="24978"/>
                      <a:pt x="624969" y="38202"/>
                      <a:pt x="624969" y="51991"/>
                    </a:cubicBezTo>
                    <a:lnTo>
                      <a:pt x="624969" y="51991"/>
                    </a:lnTo>
                    <a:cubicBezTo>
                      <a:pt x="624969" y="65780"/>
                      <a:pt x="619491" y="79004"/>
                      <a:pt x="609741" y="88754"/>
                    </a:cubicBezTo>
                    <a:cubicBezTo>
                      <a:pt x="599991" y="98504"/>
                      <a:pt x="586767" y="103982"/>
                      <a:pt x="572978" y="103982"/>
                    </a:cubicBezTo>
                    <a:lnTo>
                      <a:pt x="51991" y="103982"/>
                    </a:lnTo>
                    <a:cubicBezTo>
                      <a:pt x="38202" y="103982"/>
                      <a:pt x="24978" y="98504"/>
                      <a:pt x="15228" y="88754"/>
                    </a:cubicBezTo>
                    <a:cubicBezTo>
                      <a:pt x="5478" y="79004"/>
                      <a:pt x="0" y="65780"/>
                      <a:pt x="0" y="51991"/>
                    </a:cubicBezTo>
                    <a:lnTo>
                      <a:pt x="0" y="51991"/>
                    </a:lnTo>
                    <a:cubicBezTo>
                      <a:pt x="0" y="38202"/>
                      <a:pt x="5478" y="24978"/>
                      <a:pt x="15228" y="15228"/>
                    </a:cubicBezTo>
                    <a:cubicBezTo>
                      <a:pt x="24978" y="5478"/>
                      <a:pt x="38202" y="0"/>
                      <a:pt x="51991" y="0"/>
                    </a:cubicBezTo>
                    <a:close/>
                  </a:path>
                </a:pathLst>
              </a:custGeom>
              <a:solidFill>
                <a:srgbClr val="0CC0DF"/>
              </a:solidFill>
              <a:ln w="9525" cap="rnd">
                <a:solidFill>
                  <a:srgbClr val="FFFFFF"/>
                </a:solidFill>
                <a:prstDash val="solid"/>
                <a:round/>
              </a:ln>
            </p:spPr>
          </p:sp>
          <p:sp>
            <p:nvSpPr>
              <p:cNvPr name="TextBox 10" id="10"/>
              <p:cNvSpPr txBox="true"/>
              <p:nvPr/>
            </p:nvSpPr>
            <p:spPr>
              <a:xfrm>
                <a:off x="0" y="-38100"/>
                <a:ext cx="624969" cy="1420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24557" y="80266"/>
              <a:ext cx="446192" cy="446192"/>
            </a:xfrm>
            <a:custGeom>
              <a:avLst/>
              <a:gdLst/>
              <a:ahLst/>
              <a:cxnLst/>
              <a:rect r="r" b="b" t="t" l="l"/>
              <a:pathLst>
                <a:path h="446192" w="446192">
                  <a:moveTo>
                    <a:pt x="0" y="0"/>
                  </a:moveTo>
                  <a:lnTo>
                    <a:pt x="446192" y="0"/>
                  </a:lnTo>
                  <a:lnTo>
                    <a:pt x="446192" y="446192"/>
                  </a:lnTo>
                  <a:lnTo>
                    <a:pt x="0" y="446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42116"/>
              <a:ext cx="3830751"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Đặt vấn đề &amp; Mục tiêu</a:t>
              </a:r>
            </a:p>
          </p:txBody>
        </p:sp>
        <p:sp>
          <p:nvSpPr>
            <p:cNvPr name="TextBox 13" id="13"/>
            <p:cNvSpPr txBox="true"/>
            <p:nvPr/>
          </p:nvSpPr>
          <p:spPr>
            <a:xfrm rot="0">
              <a:off x="4148463" y="42166"/>
              <a:ext cx="6119528"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Phân tích &amp; Thiết kế hệ thống</a:t>
              </a:r>
            </a:p>
          </p:txBody>
        </p:sp>
        <p:sp>
          <p:nvSpPr>
            <p:cNvPr name="TextBox 14" id="14"/>
            <p:cNvSpPr txBox="true"/>
            <p:nvPr/>
          </p:nvSpPr>
          <p:spPr>
            <a:xfrm rot="0">
              <a:off x="9572376" y="42116"/>
              <a:ext cx="5610556"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Các chức năng chính</a:t>
              </a:r>
            </a:p>
          </p:txBody>
        </p:sp>
        <p:sp>
          <p:nvSpPr>
            <p:cNvPr name="TextBox 15" id="15"/>
            <p:cNvSpPr txBox="true"/>
            <p:nvPr/>
          </p:nvSpPr>
          <p:spPr>
            <a:xfrm rot="0">
              <a:off x="14063002" y="42166"/>
              <a:ext cx="4457733" cy="484292"/>
            </a:xfrm>
            <a:prstGeom prst="rect">
              <a:avLst/>
            </a:prstGeom>
          </p:spPr>
          <p:txBody>
            <a:bodyPr anchor="t" rtlCol="false" tIns="0" lIns="0" bIns="0" rIns="0">
              <a:spAutoFit/>
            </a:bodyPr>
            <a:lstStyle/>
            <a:p>
              <a:pPr algn="ctr">
                <a:lnSpc>
                  <a:spcPts val="3080"/>
                </a:lnSpc>
              </a:pPr>
              <a:r>
                <a:rPr lang="en-US" sz="2200">
                  <a:solidFill>
                    <a:srgbClr val="0A0A0A"/>
                  </a:solidFill>
                  <a:latin typeface="Quicksand"/>
                  <a:ea typeface="Quicksand"/>
                  <a:cs typeface="Quicksand"/>
                  <a:sym typeface="Quicksand"/>
                </a:rPr>
                <a:t>Kết quả đạt được</a:t>
              </a:r>
            </a:p>
          </p:txBody>
        </p:sp>
        <p:sp>
          <p:nvSpPr>
            <p:cNvPr name="TextBox 16" id="16"/>
            <p:cNvSpPr txBox="true"/>
            <p:nvPr/>
          </p:nvSpPr>
          <p:spPr>
            <a:xfrm rot="0">
              <a:off x="18805592" y="2033"/>
              <a:ext cx="1834109" cy="484243"/>
            </a:xfrm>
            <a:prstGeom prst="rect">
              <a:avLst/>
            </a:prstGeom>
          </p:spPr>
          <p:txBody>
            <a:bodyPr anchor="t" rtlCol="false" tIns="0" lIns="0" bIns="0" rIns="0">
              <a:spAutoFit/>
            </a:bodyPr>
            <a:lstStyle/>
            <a:p>
              <a:pPr algn="l">
                <a:lnSpc>
                  <a:spcPts val="3080"/>
                </a:lnSpc>
              </a:pPr>
              <a:r>
                <a:rPr lang="en-US" sz="2200" b="true">
                  <a:solidFill>
                    <a:srgbClr val="0A0A0A"/>
                  </a:solidFill>
                  <a:latin typeface="Quicksand Bold"/>
                  <a:ea typeface="Quicksand Bold"/>
                  <a:cs typeface="Quicksand Bold"/>
                  <a:sym typeface="Quicksand Bold"/>
                </a:rPr>
                <a:t>Search</a:t>
              </a:r>
            </a:p>
          </p:txBody>
        </p:sp>
      </p:grpSp>
      <p:grpSp>
        <p:nvGrpSpPr>
          <p:cNvPr name="Group 17" id="17"/>
          <p:cNvGrpSpPr/>
          <p:nvPr/>
        </p:nvGrpSpPr>
        <p:grpSpPr>
          <a:xfrm rot="0">
            <a:off x="1551086" y="2303378"/>
            <a:ext cx="5909450" cy="590945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4"/>
              <a:stretch>
                <a:fillRect l="0" t="0" r="0" b="0"/>
              </a:stretch>
            </a:blipFill>
          </p:spPr>
        </p:sp>
      </p:grpSp>
      <p:sp>
        <p:nvSpPr>
          <p:cNvPr name="TextBox 19" id="19"/>
          <p:cNvSpPr txBox="true"/>
          <p:nvPr/>
        </p:nvSpPr>
        <p:spPr>
          <a:xfrm rot="0">
            <a:off x="15855648" y="9220200"/>
            <a:ext cx="1403652" cy="372744"/>
          </a:xfrm>
          <a:prstGeom prst="rect">
            <a:avLst/>
          </a:prstGeom>
        </p:spPr>
        <p:txBody>
          <a:bodyPr anchor="t" rtlCol="false" tIns="0" lIns="0" bIns="0" rIns="0">
            <a:spAutoFit/>
          </a:bodyPr>
          <a:lstStyle/>
          <a:p>
            <a:pPr algn="r">
              <a:lnSpc>
                <a:spcPts val="3080"/>
              </a:lnSpc>
            </a:pPr>
            <a:r>
              <a:rPr lang="en-US" sz="2200">
                <a:solidFill>
                  <a:srgbClr val="0A0A0A"/>
                </a:solidFill>
                <a:latin typeface="Quicksand"/>
                <a:ea typeface="Quicksand"/>
                <a:cs typeface="Quicksand"/>
                <a:sym typeface="Quicksand"/>
              </a:rPr>
              <a:t>2025</a:t>
            </a:r>
          </a:p>
        </p:txBody>
      </p:sp>
      <p:sp>
        <p:nvSpPr>
          <p:cNvPr name="TextBox 20" id="20"/>
          <p:cNvSpPr txBox="true"/>
          <p:nvPr/>
        </p:nvSpPr>
        <p:spPr>
          <a:xfrm rot="0">
            <a:off x="8557625" y="3414952"/>
            <a:ext cx="8311628" cy="3600577"/>
          </a:xfrm>
          <a:prstGeom prst="rect">
            <a:avLst/>
          </a:prstGeom>
        </p:spPr>
        <p:txBody>
          <a:bodyPr anchor="t" rtlCol="false" tIns="0" lIns="0" bIns="0" rIns="0">
            <a:spAutoFit/>
          </a:bodyPr>
          <a:lstStyle/>
          <a:p>
            <a:pPr algn="just">
              <a:lnSpc>
                <a:spcPts val="5767"/>
              </a:lnSpc>
            </a:pPr>
            <a:r>
              <a:rPr lang="en-US" sz="4119">
                <a:solidFill>
                  <a:srgbClr val="0A0A0A"/>
                </a:solidFill>
                <a:latin typeface="Helvetica World"/>
                <a:ea typeface="Helvetica World"/>
                <a:cs typeface="Helvetica World"/>
                <a:sym typeface="Helvetica World"/>
              </a:rPr>
              <a:t>Cuối cùng: Chúng tôi đã tạo ra một công cụ giúp doanh nghiệp kiểm soát kỷ luật và đánh giá hiệu suất của tài xế thông qua module Vi phạm.</a:t>
            </a:r>
          </a:p>
        </p:txBody>
      </p:sp>
    </p:spTree>
  </p:cSld>
  <p:clrMapOvr>
    <a:masterClrMapping/>
  </p:clrMapOvr>
  <p:transition spd="fast">
    <p:push dir="l"/>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338" r="0" b="-15338"/>
            </a:stretch>
          </a:blipFill>
        </p:spPr>
      </p:sp>
      <p:grpSp>
        <p:nvGrpSpPr>
          <p:cNvPr name="Group 3" id="3"/>
          <p:cNvGrpSpPr/>
          <p:nvPr/>
        </p:nvGrpSpPr>
        <p:grpSpPr>
          <a:xfrm rot="0">
            <a:off x="0" y="0"/>
            <a:ext cx="18288000" cy="10847988"/>
            <a:chOff x="0" y="0"/>
            <a:chExt cx="20442850" cy="12126192"/>
          </a:xfrm>
        </p:grpSpPr>
        <p:sp>
          <p:nvSpPr>
            <p:cNvPr name="Freeform 4" id="4"/>
            <p:cNvSpPr/>
            <p:nvPr/>
          </p:nvSpPr>
          <p:spPr>
            <a:xfrm flipH="false" flipV="false" rot="0">
              <a:off x="0" y="0"/>
              <a:ext cx="20442850" cy="12024592"/>
            </a:xfrm>
            <a:custGeom>
              <a:avLst/>
              <a:gdLst/>
              <a:ahLst/>
              <a:cxnLst/>
              <a:rect r="r" b="b" t="t" l="l"/>
              <a:pathLst>
                <a:path h="12024592" w="20442850">
                  <a:moveTo>
                    <a:pt x="0" y="0"/>
                  </a:moveTo>
                  <a:lnTo>
                    <a:pt x="20442850" y="0"/>
                  </a:lnTo>
                  <a:lnTo>
                    <a:pt x="20442850" y="12024592"/>
                  </a:lnTo>
                  <a:lnTo>
                    <a:pt x="0" y="12024592"/>
                  </a:lnTo>
                  <a:close/>
                </a:path>
              </a:pathLst>
            </a:custGeom>
            <a:solidFill>
              <a:srgbClr val="000000">
                <a:alpha val="56863"/>
              </a:srgbClr>
            </a:solidFill>
          </p:spPr>
        </p:sp>
        <p:sp>
          <p:nvSpPr>
            <p:cNvPr name="Freeform 5" id="5"/>
            <p:cNvSpPr/>
            <p:nvPr/>
          </p:nvSpPr>
          <p:spPr>
            <a:xfrm flipH="false" flipV="false" rot="0">
              <a:off x="0" y="0"/>
              <a:ext cx="20442850" cy="12126192"/>
            </a:xfrm>
            <a:custGeom>
              <a:avLst/>
              <a:gdLst/>
              <a:ahLst/>
              <a:cxnLst/>
              <a:rect r="r" b="b" t="t" l="l"/>
              <a:pathLst>
                <a:path h="12126192" w="20442850">
                  <a:moveTo>
                    <a:pt x="0" y="12024592"/>
                  </a:moveTo>
                  <a:lnTo>
                    <a:pt x="20442850" y="12024592"/>
                  </a:lnTo>
                  <a:lnTo>
                    <a:pt x="20315850" y="12126192"/>
                  </a:lnTo>
                  <a:cubicBezTo>
                    <a:pt x="20315850" y="12126192"/>
                    <a:pt x="19325250" y="12049992"/>
                    <a:pt x="19223650" y="12049992"/>
                  </a:cubicBezTo>
                  <a:lnTo>
                    <a:pt x="1219200" y="12049992"/>
                  </a:lnTo>
                  <a:cubicBezTo>
                    <a:pt x="1117600" y="12049992"/>
                    <a:pt x="127000" y="12126192"/>
                    <a:pt x="127000" y="12126192"/>
                  </a:cubicBezTo>
                  <a:lnTo>
                    <a:pt x="0" y="12024592"/>
                  </a:lnTo>
                  <a:lnTo>
                    <a:pt x="0" y="0"/>
                  </a:lnTo>
                  <a:lnTo>
                    <a:pt x="20442850" y="0"/>
                  </a:lnTo>
                  <a:lnTo>
                    <a:pt x="20442850" y="12024592"/>
                  </a:lnTo>
                  <a:lnTo>
                    <a:pt x="12700" y="12024592"/>
                  </a:lnTo>
                  <a:lnTo>
                    <a:pt x="12700" y="12011892"/>
                  </a:lnTo>
                  <a:lnTo>
                    <a:pt x="20430150" y="12011892"/>
                  </a:lnTo>
                  <a:lnTo>
                    <a:pt x="20430150" y="12700"/>
                  </a:lnTo>
                  <a:lnTo>
                    <a:pt x="12700" y="12700"/>
                  </a:lnTo>
                  <a:lnTo>
                    <a:pt x="12700" y="12024592"/>
                  </a:lnTo>
                </a:path>
              </a:pathLst>
            </a:custGeom>
            <a:solidFill>
              <a:srgbClr val="394C60">
                <a:alpha val="392"/>
              </a:srgbClr>
            </a:solidFill>
          </p:spPr>
        </p:sp>
        <p:sp>
          <p:nvSpPr>
            <p:cNvPr name="TextBox 6" id="6"/>
            <p:cNvSpPr txBox="true"/>
            <p:nvPr/>
          </p:nvSpPr>
          <p:spPr>
            <a:xfrm>
              <a:off x="0" y="-38100"/>
              <a:ext cx="20442850" cy="11605492"/>
            </a:xfrm>
            <a:prstGeom prst="rect">
              <a:avLst/>
            </a:prstGeom>
          </p:spPr>
          <p:txBody>
            <a:bodyPr anchor="t" rtlCol="false" tIns="242375" lIns="242375" bIns="242375" rIns="242375"/>
            <a:lstStyle/>
            <a:p>
              <a:pPr algn="l">
                <a:lnSpc>
                  <a:spcPts val="3172"/>
                </a:lnSpc>
              </a:pPr>
            </a:p>
          </p:txBody>
        </p:sp>
      </p:grpSp>
      <p:sp>
        <p:nvSpPr>
          <p:cNvPr name="AutoShape 7" id="7"/>
          <p:cNvSpPr/>
          <p:nvPr/>
        </p:nvSpPr>
        <p:spPr>
          <a:xfrm>
            <a:off x="1028700" y="9042203"/>
            <a:ext cx="16230600" cy="0"/>
          </a:xfrm>
          <a:prstGeom prst="line">
            <a:avLst/>
          </a:prstGeom>
          <a:ln cap="flat" w="19050">
            <a:solidFill>
              <a:srgbClr val="FFFFFF"/>
            </a:solidFill>
            <a:prstDash val="solid"/>
            <a:headEnd type="none" len="sm" w="sm"/>
            <a:tailEnd type="none" len="sm" w="sm"/>
          </a:ln>
        </p:spPr>
      </p:sp>
      <p:sp>
        <p:nvSpPr>
          <p:cNvPr name="AutoShape 8" id="8"/>
          <p:cNvSpPr/>
          <p:nvPr/>
        </p:nvSpPr>
        <p:spPr>
          <a:xfrm>
            <a:off x="1028700" y="1248380"/>
            <a:ext cx="16230600" cy="0"/>
          </a:xfrm>
          <a:prstGeom prst="line">
            <a:avLst/>
          </a:prstGeom>
          <a:ln cap="flat" w="19050">
            <a:solidFill>
              <a:srgbClr val="FFFFFF"/>
            </a:solidFill>
            <a:prstDash val="solid"/>
            <a:headEnd type="none" len="sm" w="sm"/>
            <a:tailEnd type="none" len="sm" w="sm"/>
          </a:ln>
        </p:spPr>
      </p:sp>
      <p:sp>
        <p:nvSpPr>
          <p:cNvPr name="Freeform 9" id="9"/>
          <p:cNvSpPr/>
          <p:nvPr/>
        </p:nvSpPr>
        <p:spPr>
          <a:xfrm flipH="false" flipV="false" rot="0">
            <a:off x="16689238" y="694056"/>
            <a:ext cx="334644" cy="334644"/>
          </a:xfrm>
          <a:custGeom>
            <a:avLst/>
            <a:gdLst/>
            <a:ahLst/>
            <a:cxnLst/>
            <a:rect r="r" b="b" t="t" l="l"/>
            <a:pathLst>
              <a:path h="334644" w="334644">
                <a:moveTo>
                  <a:pt x="0" y="0"/>
                </a:moveTo>
                <a:lnTo>
                  <a:pt x="334644" y="0"/>
                </a:lnTo>
                <a:lnTo>
                  <a:pt x="334644" y="334644"/>
                </a:lnTo>
                <a:lnTo>
                  <a:pt x="0" y="3346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228733" y="4211524"/>
            <a:ext cx="15830533" cy="1997303"/>
          </a:xfrm>
          <a:prstGeom prst="rect">
            <a:avLst/>
          </a:prstGeom>
        </p:spPr>
        <p:txBody>
          <a:bodyPr anchor="t" rtlCol="false" tIns="0" lIns="0" bIns="0" rIns="0">
            <a:spAutoFit/>
          </a:bodyPr>
          <a:lstStyle/>
          <a:p>
            <a:pPr algn="l">
              <a:lnSpc>
                <a:spcPts val="15419"/>
              </a:lnSpc>
            </a:pPr>
            <a:r>
              <a:rPr lang="en-US" sz="14017" b="true">
                <a:solidFill>
                  <a:srgbClr val="FFFFFF"/>
                </a:solidFill>
                <a:latin typeface="Oswald Bold"/>
                <a:ea typeface="Oswald Bold"/>
                <a:cs typeface="Oswald Bold"/>
                <a:sym typeface="Oswald Bold"/>
              </a:rPr>
              <a:t>THANK YOU SO MUCH</a:t>
            </a:r>
          </a:p>
        </p:txBody>
      </p:sp>
      <p:sp>
        <p:nvSpPr>
          <p:cNvPr name="TextBox 11" id="11"/>
          <p:cNvSpPr txBox="true"/>
          <p:nvPr/>
        </p:nvSpPr>
        <p:spPr>
          <a:xfrm rot="0">
            <a:off x="16336091" y="9220200"/>
            <a:ext cx="1375582" cy="372744"/>
          </a:xfrm>
          <a:prstGeom prst="rect">
            <a:avLst/>
          </a:prstGeom>
        </p:spPr>
        <p:txBody>
          <a:bodyPr anchor="t" rtlCol="false" tIns="0" lIns="0" bIns="0" rIns="0">
            <a:spAutoFit/>
          </a:bodyPr>
          <a:lstStyle/>
          <a:p>
            <a:pPr algn="ctr">
              <a:lnSpc>
                <a:spcPts val="3080"/>
              </a:lnSpc>
            </a:pPr>
            <a:r>
              <a:rPr lang="en-US" sz="2200">
                <a:solidFill>
                  <a:srgbClr val="FFFFFF"/>
                </a:solidFill>
                <a:latin typeface="Quicksand"/>
                <a:ea typeface="Quicksand"/>
                <a:cs typeface="Quicksand"/>
                <a:sym typeface="Quicksand"/>
              </a:rPr>
              <a:t>2025</a:t>
            </a:r>
          </a:p>
        </p:txBody>
      </p:sp>
    </p:spTree>
  </p:cSld>
  <p:clrMapOvr>
    <a:masterClrMapping/>
  </p:clrMapOvr>
  <p:transition spd="fast">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DAG55VTAPfU</dc:identifier>
  <dcterms:modified xsi:type="dcterms:W3CDTF">2011-08-01T06:04:30Z</dcterms:modified>
  <cp:revision>1</cp:revision>
  <dc:title>Black and White Modern Fashion Brand Strategy Presentation</dc:title>
</cp:coreProperties>
</file>